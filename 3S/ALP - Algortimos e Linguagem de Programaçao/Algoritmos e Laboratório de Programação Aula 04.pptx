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19" r:id="rId3"/>
    <p:sldId id="293" r:id="rId4"/>
    <p:sldId id="313" r:id="rId5"/>
    <p:sldId id="320" r:id="rId6"/>
    <p:sldId id="294" r:id="rId7"/>
    <p:sldId id="295" r:id="rId8"/>
    <p:sldId id="296" r:id="rId9"/>
    <p:sldId id="298" r:id="rId10"/>
    <p:sldId id="297" r:id="rId11"/>
    <p:sldId id="299" r:id="rId12"/>
    <p:sldId id="300" r:id="rId13"/>
    <p:sldId id="301" r:id="rId14"/>
    <p:sldId id="303" r:id="rId15"/>
    <p:sldId id="302" r:id="rId16"/>
    <p:sldId id="304" r:id="rId17"/>
    <p:sldId id="305" r:id="rId18"/>
    <p:sldId id="307" r:id="rId19"/>
    <p:sldId id="308" r:id="rId20"/>
    <p:sldId id="30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8d1bH8bkj5Q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81093" cy="1630058"/>
          </a:xfrm>
        </p:spPr>
        <p:txBody>
          <a:bodyPr/>
          <a:lstStyle/>
          <a:p>
            <a:r>
              <a:rPr lang="pt-BR" sz="4800" dirty="0">
                <a:latin typeface="Arial" panose="020B0604020202020204" pitchFamily="34" charset="0"/>
                <a:cs typeface="Arial" panose="020B0604020202020204" pitchFamily="34" charset="0"/>
              </a:rPr>
              <a:t>Algoritmos e Laboratório de Programação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2937164" y="3669633"/>
            <a:ext cx="6109854" cy="54142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</a:pPr>
            <a:r>
              <a:rPr lang="pt-BR" sz="3200" dirty="0"/>
              <a:t>Matrizes (</a:t>
            </a:r>
            <a:r>
              <a:rPr lang="pt-BR" sz="3200" dirty="0" err="1"/>
              <a:t>Arrays</a:t>
            </a:r>
            <a:r>
              <a:rPr lang="pt-BR" sz="3200" dirty="0"/>
              <a:t> Multidimensionais)</a:t>
            </a:r>
            <a:endParaRPr lang="pt-BR" sz="3200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065515" y="4692317"/>
            <a:ext cx="2069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/>
              <a:t>Aula 04</a:t>
            </a:r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2470D-3F75-EEDB-22CD-D4FCFFD7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DEB2E-2A94-6677-8058-664BDD768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Matrizes?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C918F0-3EA7-0765-277D-F48AEEEFD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Uma matriz é, essencialmente, um vetor de vetores. </a:t>
            </a:r>
          </a:p>
          <a:p>
            <a:pPr algn="just"/>
            <a:r>
              <a:rPr lang="pt-BR" sz="2800" dirty="0"/>
              <a:t>Enquanto o vetor possui apenas uma dimensão (comprimento), a matriz adiciona uma segunda dimensão (altura), formando uma grade ou tabela composta por linhas e colunas.</a:t>
            </a:r>
          </a:p>
          <a:p>
            <a:pPr algn="just"/>
            <a:r>
              <a:rPr lang="pt-BR" sz="2800" dirty="0"/>
              <a:t>São basicamente tabelas organizadas em linhas (horizontais) e colunas (verticais) que servem para agrupar e relacionar dados numéricos ou variáveis.</a:t>
            </a:r>
          </a:p>
        </p:txBody>
      </p:sp>
    </p:spTree>
    <p:extLst>
      <p:ext uri="{BB962C8B-B14F-4D97-AF65-F5344CB8AC3E}">
        <p14:creationId xmlns:p14="http://schemas.microsoft.com/office/powerpoint/2010/main" val="283109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83CDD-2AD5-2B08-8F85-31CA0FBB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0FAB2-79B7-D3FD-A227-78C3A4AD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Matrizes?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CDF7CB-CF9C-6778-1859-07F711FFA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Elas são representadas matematicamente por um arranjo retangular, geralmente delimitado por parênteses ou colchetes.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0C153E-C7ED-39F4-86C6-3D2F15C732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33" b="17159"/>
          <a:stretch>
            <a:fillRect/>
          </a:stretch>
        </p:blipFill>
        <p:spPr>
          <a:xfrm>
            <a:off x="4101992" y="3341132"/>
            <a:ext cx="414338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8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2C59-8714-D940-7833-687271D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8C316-A8AB-9E31-6CDC-EF5089EDA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e Identificação de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278FB6-334D-42A9-C538-E7B401574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"ordem" ou dimensão de uma matriz é definida pelo número de linhas (m) e colunas (n), sendo lida como m por n (m x n).</a:t>
            </a:r>
          </a:p>
          <a:p>
            <a:pPr algn="just"/>
            <a:r>
              <a:rPr lang="pt-BR" dirty="0"/>
              <a:t>Elementos (</a:t>
            </a:r>
            <a:r>
              <a:rPr lang="pt-BR" dirty="0" err="1"/>
              <a:t>a</a:t>
            </a:r>
            <a:r>
              <a:rPr lang="pt-BR" baseline="-25000" dirty="0" err="1"/>
              <a:t>ij</a:t>
            </a:r>
            <a:r>
              <a:rPr lang="pt-BR" dirty="0"/>
              <a:t>): Cada número dentro da matriz é um elemento, identificado por sua posição exata. O índice i indica a linha e o j a coluna.</a:t>
            </a:r>
          </a:p>
          <a:p>
            <a:pPr algn="just"/>
            <a:r>
              <a:rPr lang="pt-BR" dirty="0"/>
              <a:t>Exemplo: O elemento a</a:t>
            </a:r>
            <a:r>
              <a:rPr lang="pt-BR" baseline="-25000" dirty="0"/>
              <a:t>23</a:t>
            </a:r>
            <a:r>
              <a:rPr lang="pt-BR" dirty="0"/>
              <a:t> está na segunda linha e na terceira coluna.</a:t>
            </a:r>
          </a:p>
          <a:p>
            <a:pPr algn="just"/>
            <a:r>
              <a:rPr lang="pt-BR" dirty="0"/>
              <a:t>Diagonais: Em matrizes quadradas (onde o número de linhas é igual ao de colunas), existem a diagonal principal (onde i = j) e a diagonal secundária.</a:t>
            </a:r>
          </a:p>
        </p:txBody>
      </p:sp>
    </p:spTree>
    <p:extLst>
      <p:ext uri="{BB962C8B-B14F-4D97-AF65-F5344CB8AC3E}">
        <p14:creationId xmlns:p14="http://schemas.microsoft.com/office/powerpoint/2010/main" val="338607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166EE-32CD-3797-B456-3459B0016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E5C3C-EE49-9BA7-A90A-1569C6A1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Tipos Comuns de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4C32B8-E786-C142-90E6-342C095AE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3" y="2418347"/>
            <a:ext cx="9601195" cy="3885471"/>
          </a:xfrm>
        </p:spPr>
        <p:txBody>
          <a:bodyPr>
            <a:normAutofit fontScale="92500" lnSpcReduction="10000"/>
          </a:bodyPr>
          <a:lstStyle/>
          <a:p>
            <a:pPr algn="just">
              <a:spcBef>
                <a:spcPts val="0"/>
              </a:spcBef>
            </a:pPr>
            <a:r>
              <a:rPr lang="pt-BR" sz="2800" dirty="0"/>
              <a:t>Existem classificações específicas baseadas na organização dos seus elementos:</a:t>
            </a:r>
          </a:p>
          <a:p>
            <a:pPr algn="just">
              <a:spcBef>
                <a:spcPts val="0"/>
              </a:spcBef>
            </a:pPr>
            <a:r>
              <a:rPr lang="pt-BR" sz="2800" b="1" dirty="0"/>
              <a:t>Matriz Linha: </a:t>
            </a:r>
            <a:r>
              <a:rPr lang="pt-BR" sz="2800" dirty="0"/>
              <a:t>Possui apenas uma única linha.</a:t>
            </a:r>
          </a:p>
          <a:p>
            <a:pPr algn="just">
              <a:spcBef>
                <a:spcPts val="0"/>
              </a:spcBef>
            </a:pPr>
            <a:r>
              <a:rPr lang="pt-BR" sz="2800" b="1" dirty="0"/>
              <a:t>Matriz Coluna: </a:t>
            </a:r>
            <a:r>
              <a:rPr lang="pt-BR" sz="2800" dirty="0"/>
              <a:t>Possui apenas uma única coluna.</a:t>
            </a:r>
          </a:p>
          <a:p>
            <a:pPr algn="just">
              <a:spcBef>
                <a:spcPts val="0"/>
              </a:spcBef>
            </a:pPr>
            <a:r>
              <a:rPr lang="pt-BR" sz="2800" b="1" dirty="0"/>
              <a:t>Matriz Quadrada: </a:t>
            </a:r>
            <a:r>
              <a:rPr lang="pt-BR" sz="2800" dirty="0"/>
              <a:t>Tem o mesmo número de linhas e colunas (</a:t>
            </a:r>
            <a:r>
              <a:rPr lang="pt-BR" sz="2800" dirty="0" err="1"/>
              <a:t>ex</a:t>
            </a:r>
            <a:r>
              <a:rPr lang="pt-BR" sz="2800" dirty="0"/>
              <a:t>: 2 x 2, 3 x 3).</a:t>
            </a:r>
          </a:p>
          <a:p>
            <a:pPr algn="just">
              <a:spcBef>
                <a:spcPts val="0"/>
              </a:spcBef>
            </a:pPr>
            <a:r>
              <a:rPr lang="pt-BR" sz="2800" b="1" dirty="0"/>
              <a:t>Matriz Nula: </a:t>
            </a:r>
            <a:r>
              <a:rPr lang="pt-BR" sz="2800" dirty="0"/>
              <a:t>Todos os seus elementos são iguais a zero.</a:t>
            </a:r>
          </a:p>
          <a:p>
            <a:pPr algn="just">
              <a:spcBef>
                <a:spcPts val="0"/>
              </a:spcBef>
            </a:pPr>
            <a:r>
              <a:rPr lang="pt-BR" sz="2800" b="1" dirty="0"/>
              <a:t>Matriz Identidade: </a:t>
            </a:r>
            <a:r>
              <a:rPr lang="pt-BR" sz="2800" dirty="0"/>
              <a:t>Matriz quadrada onde os elementos da diagonal principal são iguais a 1 e os demais são 0.</a:t>
            </a:r>
          </a:p>
        </p:txBody>
      </p:sp>
    </p:spTree>
    <p:extLst>
      <p:ext uri="{BB962C8B-B14F-4D97-AF65-F5344CB8AC3E}">
        <p14:creationId xmlns:p14="http://schemas.microsoft.com/office/powerpoint/2010/main" val="1290414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0A9F-4244-F9E7-99DF-C52FACF5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CE2F7-514F-33EC-0C4A-26252D4E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Bidimensional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7D5F9B-F1BE-6609-1865-1DB3EE021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Na memória do computador, os dados continuam sendo armazenados de forma sequencial, mas a linguagem C nos permite acessá-los usando dois índices: o primeiro para a linha e o segundo para a coluna.</a:t>
            </a:r>
          </a:p>
          <a:p>
            <a:pPr algn="just"/>
            <a:r>
              <a:rPr lang="pt-BR" dirty="0"/>
              <a:t>Assim como os vetores, todos os elementos de uma matriz devem ser do mesmo tipo de dado, deve ser homogêneos.</a:t>
            </a:r>
          </a:p>
        </p:txBody>
      </p:sp>
    </p:spTree>
    <p:extLst>
      <p:ext uri="{BB962C8B-B14F-4D97-AF65-F5344CB8AC3E}">
        <p14:creationId xmlns:p14="http://schemas.microsoft.com/office/powerpoint/2010/main" val="1974235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56F9-569E-ECE2-A8FA-4E1E20A9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C8052-44D1-B73C-D2C2-FF8412D0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Evolução de Listas para Tabelas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46FB22-25E4-D3A3-8135-C9CD062B8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transição do vetor para a matriz representa um salto na capacidade de abstração.</a:t>
            </a:r>
          </a:p>
          <a:p>
            <a:pPr algn="just"/>
            <a:r>
              <a:rPr lang="pt-BR" b="1" dirty="0"/>
              <a:t>Representação de Dados Complexos: </a:t>
            </a:r>
            <a:r>
              <a:rPr lang="pt-BR" dirty="0"/>
              <a:t>Com matrizes, deixamos de armazenar apenas uma lista de notas de um aluno e passamos a representar o boletim de uma sala inteira, onde cada linha é um aluno e cada coluna é uma disciplina ou avaliação.</a:t>
            </a:r>
          </a:p>
          <a:p>
            <a:pPr algn="just"/>
            <a:r>
              <a:rPr lang="pt-BR" b="1" dirty="0"/>
              <a:t>Aplicações Reais: </a:t>
            </a:r>
            <a:r>
              <a:rPr lang="pt-BR" dirty="0"/>
              <a:t>Matrizes são a base para o processamento de imagens (onde cada pixel é um elemento da matriz), sistemas de geolocalização e simulações físicas.</a:t>
            </a:r>
          </a:p>
        </p:txBody>
      </p:sp>
    </p:spTree>
    <p:extLst>
      <p:ext uri="{BB962C8B-B14F-4D97-AF65-F5344CB8AC3E}">
        <p14:creationId xmlns:p14="http://schemas.microsoft.com/office/powerpoint/2010/main" val="398216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D60B-58FC-3894-5565-8BB647C1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99A40-073F-AC27-0F14-195C9931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Álgebra Matricial Computacional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37123-3F35-8952-0C14-827336B9F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418347"/>
            <a:ext cx="9926781" cy="3843908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O desafio não é apenas "guardar" dados, mas realizar operações sobre eles.</a:t>
            </a:r>
          </a:p>
          <a:p>
            <a:pPr algn="just"/>
            <a:r>
              <a:rPr lang="pt-BR" b="1" dirty="0"/>
              <a:t>Soma e Subtração: </a:t>
            </a:r>
            <a:r>
              <a:rPr lang="pt-BR" dirty="0"/>
              <a:t>Para somar duas matrizes, o algoritmo deve percorrer cada posição (i, j) de ambas simultaneamente, exigindo o domínio de laços de repetição aninhados (um for dentro de outro for).</a:t>
            </a:r>
          </a:p>
          <a:p>
            <a:pPr algn="just"/>
            <a:r>
              <a:rPr lang="pt-BR" b="1" dirty="0"/>
              <a:t>Multiplicação de Matrizes: </a:t>
            </a:r>
            <a:r>
              <a:rPr lang="pt-BR" dirty="0"/>
              <a:t>O algoritmo de multiplicação não é direto elemento a elemento; ele exige uma lógica de "linha por coluna", o que treina a capacidade de gerenciar múltiplos índices e acumuladores.</a:t>
            </a:r>
          </a:p>
          <a:p>
            <a:pPr algn="just"/>
            <a:r>
              <a:rPr lang="pt-BR" b="1" dirty="0"/>
              <a:t>Transposição: </a:t>
            </a:r>
            <a:r>
              <a:rPr lang="pt-BR" dirty="0"/>
              <a:t>Entender como trocar linhas por colunas via código, reforçando a lógica de manipulação de memória.</a:t>
            </a:r>
          </a:p>
        </p:txBody>
      </p:sp>
    </p:spTree>
    <p:extLst>
      <p:ext uri="{BB962C8B-B14F-4D97-AF65-F5344CB8AC3E}">
        <p14:creationId xmlns:p14="http://schemas.microsoft.com/office/powerpoint/2010/main" val="493003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70E29-D2E8-4868-4EA8-60858E991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83D9F-5313-3DDB-20E0-167AF7A1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Correlação entre Algoritmos e Programação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677B32F-B9A1-C2A4-CD20-E48741EC6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418347"/>
                <a:ext cx="9601196" cy="377791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b="1" dirty="0"/>
                  <a:t>O Algoritmo: </a:t>
                </a:r>
                <a:r>
                  <a:rPr lang="pt-BR" dirty="0"/>
                  <a:t>Define a ordem das operações. Por exemplo, para percorrer uma matriz, o algoritmo decide se faremos isso "linha por linha" ou "coluna por coluna".</a:t>
                </a:r>
              </a:p>
              <a:p>
                <a:pPr algn="just"/>
                <a:r>
                  <a:rPr lang="pt-BR" b="1" dirty="0"/>
                  <a:t>A Base de Programação: </a:t>
                </a:r>
                <a:r>
                  <a:rPr lang="pt-BR" dirty="0"/>
                  <a:t>Em C, a declaração </a:t>
                </a:r>
                <a:r>
                  <a:rPr lang="pt-BR" dirty="0" err="1"/>
                  <a:t>int</a:t>
                </a:r>
                <a:r>
                  <a:rPr lang="pt-BR" dirty="0"/>
                  <a:t> matriz[3][3] reserva um bloco contíguo de 9 inteiros. O programador deve entender que, embora vejamos uma tabela, o hardware vê uma linha, e o cálculo de endereço de memória é feito automaticamente pelo compilador usando a fórmula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𝐼𝑛𝑑𝑖𝑐𝑒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𝑙𝑖𝑛h𝑎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m:rPr>
                        <m:lit/>
                      </m:rPr>
                      <a:rPr lang="pt-BR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𝑐𝑜𝑙𝑢𝑛𝑎𝑠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𝑐𝑜𝑙𝑢𝑛𝑎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677B32F-B9A1-C2A4-CD20-E48741EC6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418347"/>
                <a:ext cx="9601196" cy="3777915"/>
              </a:xfrm>
              <a:blipFill>
                <a:blip r:embed="rId2"/>
                <a:stretch>
                  <a:fillRect l="-1144" t="-2746" r="-10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86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F799-C03F-4514-7F0D-2F7D37A0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048BE-60D2-95D4-A677-46FB06C7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Matemáticas com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246CE2-6D31-09B5-FCD9-2852C4F04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3600" dirty="0"/>
              <a:t>Adição e Subtração de Matrizes.</a:t>
            </a:r>
          </a:p>
          <a:p>
            <a:pPr algn="just"/>
            <a:r>
              <a:rPr lang="pt-BR" sz="3600" dirty="0"/>
              <a:t>Multiplicação por Escalar.</a:t>
            </a:r>
          </a:p>
          <a:p>
            <a:pPr algn="just"/>
            <a:r>
              <a:rPr lang="pt-BR" sz="3600" dirty="0"/>
              <a:t>Multiplicação entre Matrizes.</a:t>
            </a:r>
          </a:p>
          <a:p>
            <a:pPr algn="just"/>
            <a:r>
              <a:rPr lang="pt-BR" sz="3600" b="1" dirty="0"/>
              <a:t>Divisão de Matrizes.</a:t>
            </a:r>
          </a:p>
          <a:p>
            <a:pPr algn="just"/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16437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3E64-673E-95B6-BE55-761F5724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EF64F-6698-B69D-0142-6334C9A9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Adição e Subtração de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4D2AC8-CCA5-F260-A36F-2A7BFA39F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946" y="2349072"/>
            <a:ext cx="10280072" cy="3777915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2600" dirty="0"/>
              <a:t>A soma e a subtração são as operações mais diretas, pois são realizadas elemento a elemento.</a:t>
            </a:r>
          </a:p>
          <a:p>
            <a:pPr algn="just">
              <a:spcBef>
                <a:spcPts val="0"/>
              </a:spcBef>
            </a:pPr>
            <a:r>
              <a:rPr lang="pt-BR" sz="2600" b="1" dirty="0"/>
              <a:t>Regra Matemática: </a:t>
            </a:r>
            <a:r>
              <a:rPr lang="pt-BR" sz="2600" dirty="0"/>
              <a:t>As matrizes A e B devem possuir as mesmas dimensões (m x n) e resultaram em uma matriz C.</a:t>
            </a:r>
          </a:p>
          <a:p>
            <a:pPr algn="just">
              <a:spcBef>
                <a:spcPts val="0"/>
              </a:spcBef>
            </a:pPr>
            <a:r>
              <a:rPr lang="pt-BR" sz="2600" b="1" dirty="0"/>
              <a:t>Lógica Algorítmica: </a:t>
            </a:r>
            <a:r>
              <a:rPr lang="pt-BR" sz="2600" dirty="0"/>
              <a:t>Cada elemento C[i][j] é o resultado de A[i][j] + ou - B[i][j].</a:t>
            </a:r>
          </a:p>
          <a:p>
            <a:pPr algn="just">
              <a:spcBef>
                <a:spcPts val="0"/>
              </a:spcBef>
            </a:pPr>
            <a:r>
              <a:rPr lang="pt-BR" sz="2600" b="1" dirty="0"/>
              <a:t>Implementação: </a:t>
            </a:r>
            <a:r>
              <a:rPr lang="pt-BR" sz="2600" dirty="0"/>
              <a:t>Utiliza-se dois laços de repetição (for, </a:t>
            </a:r>
            <a:r>
              <a:rPr lang="pt-BR" sz="2600" dirty="0" err="1"/>
              <a:t>while</a:t>
            </a:r>
            <a:r>
              <a:rPr lang="pt-BR" sz="2600" dirty="0"/>
              <a:t> ou do-</a:t>
            </a:r>
            <a:r>
              <a:rPr lang="pt-BR" sz="2600" dirty="0" err="1"/>
              <a:t>while</a:t>
            </a:r>
            <a:r>
              <a:rPr lang="pt-BR" sz="2600" dirty="0"/>
              <a:t>), onde um é colocado dentro de outro laço de repetição, o externo percorre as linhas (i) e o interno percorre as colunas (j).</a:t>
            </a:r>
          </a:p>
        </p:txBody>
      </p:sp>
    </p:spTree>
    <p:extLst>
      <p:ext uri="{BB962C8B-B14F-4D97-AF65-F5344CB8AC3E}">
        <p14:creationId xmlns:p14="http://schemas.microsoft.com/office/powerpoint/2010/main" val="3784987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4B28-D66A-910F-DECB-D963D14C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2E6E6-D638-D038-66D3-D6440D1D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Multiplicação por Escalar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4747FD-A379-B0D0-8D45-B121F0EC5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Ocorre quando multiplicamos uma matriz inteira por um único número real (k).</a:t>
            </a:r>
          </a:p>
          <a:p>
            <a:pPr algn="just"/>
            <a:r>
              <a:rPr lang="pt-BR" sz="2800" b="1" dirty="0"/>
              <a:t>Regra Matemática: </a:t>
            </a:r>
            <a:r>
              <a:rPr lang="pt-BR" sz="2800" dirty="0"/>
              <a:t>Cada elemento da matriz é multiplicado pelo valor de k.</a:t>
            </a:r>
          </a:p>
          <a:p>
            <a:pPr algn="just"/>
            <a:r>
              <a:rPr lang="pt-BR" sz="2800" b="1" dirty="0"/>
              <a:t>Lógica Algorítmica: </a:t>
            </a:r>
            <a:r>
              <a:rPr lang="pt-BR" sz="2800" dirty="0"/>
              <a:t>Percorre-se toda a estrutura da matriz e atualiza-se o valor: matriz[i][j] = matriz[i][j] * k.</a:t>
            </a:r>
          </a:p>
        </p:txBody>
      </p:sp>
    </p:spTree>
    <p:extLst>
      <p:ext uri="{BB962C8B-B14F-4D97-AF65-F5344CB8AC3E}">
        <p14:creationId xmlns:p14="http://schemas.microsoft.com/office/powerpoint/2010/main" val="2126927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08A04-9CDD-AF49-C7DD-030FE14E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7CBBA-F8C0-C16F-27B6-2F2276D6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Multiplicação entre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3BC4A-207B-37C2-77C1-3557443CF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Esta é a operação mais complexa e exige atenção à compatibilidade de dimensões.</a:t>
            </a:r>
          </a:p>
          <a:p>
            <a:pPr algn="just"/>
            <a:r>
              <a:rPr lang="pt-BR" b="1" dirty="0"/>
              <a:t>Regra Matemática: </a:t>
            </a:r>
            <a:r>
              <a:rPr lang="pt-BR" dirty="0"/>
              <a:t>O número de colunas da primeira matriz (A) deve ser igual ao número de linhas da segunda matriz (B). Se A é m x n e B é n x p, a resultante C será m x p.</a:t>
            </a:r>
          </a:p>
          <a:p>
            <a:pPr algn="just"/>
            <a:r>
              <a:rPr lang="pt-BR" b="1" dirty="0"/>
              <a:t>A Lógica do "Produto Escalar": </a:t>
            </a:r>
            <a:r>
              <a:rPr lang="pt-BR" dirty="0"/>
              <a:t>O elemento C[i][j] não é uma multiplicação simples. Ele é a soma dos produtos dos elementos da linha i de A pelos elementos da coluna j de B.</a:t>
            </a:r>
          </a:p>
        </p:txBody>
      </p:sp>
    </p:spTree>
    <p:extLst>
      <p:ext uri="{BB962C8B-B14F-4D97-AF65-F5344CB8AC3E}">
        <p14:creationId xmlns:p14="http://schemas.microsoft.com/office/powerpoint/2010/main" val="3951984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B6AC-501D-789B-B22E-C1831D2A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CD0C4-EE6A-4134-509E-10722B23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Multiplicação entre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D4E20D-5C5E-4AA5-B6FC-02BF4EB0F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Estrutura do Algoritmo: </a:t>
            </a:r>
            <a:r>
              <a:rPr lang="pt-BR" dirty="0"/>
              <a:t>Requer três laços aninhados</a:t>
            </a:r>
          </a:p>
          <a:p>
            <a:pPr algn="just"/>
            <a:r>
              <a:rPr lang="pt-BR" dirty="0"/>
              <a:t>O primeiro laço controla a linha da matriz resultante (i).</a:t>
            </a:r>
          </a:p>
          <a:p>
            <a:pPr algn="just"/>
            <a:r>
              <a:rPr lang="pt-BR" dirty="0"/>
              <a:t>O segundo laço controla a coluna da matriz resultante (j).</a:t>
            </a:r>
          </a:p>
          <a:p>
            <a:pPr algn="just"/>
            <a:r>
              <a:rPr lang="pt-BR" dirty="0"/>
              <a:t>O terceiro laço (índice auxiliar k) percorre simultaneamente a coluna de A e a linha de B para realizar o somatório.</a:t>
            </a:r>
          </a:p>
          <a:p>
            <a:pPr algn="just"/>
            <a:r>
              <a:rPr lang="pt-BR" b="1" dirty="0"/>
              <a:t>Fórmula no Código: </a:t>
            </a:r>
            <a:r>
              <a:rPr lang="pl-PL" dirty="0"/>
              <a:t>C[i][j] += A[i][k] * B[k][j];</a:t>
            </a:r>
            <a:r>
              <a:rPr lang="pt-BR" dirty="0"/>
              <a:t> (onde C[i][j] deve ser inicializado com zero).</a:t>
            </a:r>
          </a:p>
        </p:txBody>
      </p:sp>
    </p:spTree>
    <p:extLst>
      <p:ext uri="{BB962C8B-B14F-4D97-AF65-F5344CB8AC3E}">
        <p14:creationId xmlns:p14="http://schemas.microsoft.com/office/powerpoint/2010/main" val="2635780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8CAD-E2CA-9C69-30BE-DB2010AC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A7279-F06D-E206-AAE5-EA35DEB0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Divisão de Matrizes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D60660-FEE6-EBBF-EDA5-35597D380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É importante reforçar um conceito teórico fundamental para evitar erros de lógica: não existe divisão direta de matrizes.</a:t>
            </a:r>
          </a:p>
          <a:p>
            <a:pPr algn="just"/>
            <a:r>
              <a:rPr lang="pt-BR" b="1" dirty="0"/>
              <a:t>O Conceito: </a:t>
            </a:r>
            <a:r>
              <a:rPr lang="pt-BR" dirty="0"/>
              <a:t>Computacionalmente, a "divisão" de A por B é interpretada como a multiplicação de A pela matriz inversa de B (A x B</a:t>
            </a:r>
            <a:r>
              <a:rPr lang="pt-BR" baseline="30000" dirty="0"/>
              <a:t>-</a:t>
            </a:r>
            <a:r>
              <a:rPr lang="pt-BR" dirty="0"/>
              <a:t>¹).</a:t>
            </a:r>
          </a:p>
          <a:p>
            <a:pPr algn="just"/>
            <a:r>
              <a:rPr lang="pt-BR" b="1" dirty="0"/>
              <a:t>Complexidade: </a:t>
            </a:r>
            <a:r>
              <a:rPr lang="pt-BR" dirty="0"/>
              <a:t>Implementar a inversão de uma matriz em C exige algoritmos avançados (como a Eliminação de Gauss-Jordan ou Decomposição LU), que fogem do escopo de operações básicas, mas são fundamentais em bibliotecas de álgebra linear.</a:t>
            </a:r>
          </a:p>
        </p:txBody>
      </p:sp>
    </p:spTree>
    <p:extLst>
      <p:ext uri="{BB962C8B-B14F-4D97-AF65-F5344CB8AC3E}">
        <p14:creationId xmlns:p14="http://schemas.microsoft.com/office/powerpoint/2010/main" val="1154844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A96A-7409-7E6F-F541-D23EFDF7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18D5F-04DB-873E-4975-6EA7E48E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Desenvolvimento de Matriz 3 X 3 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FAC41B-D6A9-2573-F39A-BAC5059AC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88489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</a:t>
            </a:r>
            <a:r>
              <a:rPr lang="pt-BR" dirty="0" err="1"/>
              <a:t>float</a:t>
            </a:r>
            <a:r>
              <a:rPr lang="pt-BR" dirty="0"/>
              <a:t> matriz[3][3]; // Declaração da matriz 3x3 de números reais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</a:t>
            </a:r>
            <a:r>
              <a:rPr lang="pt-BR" dirty="0" err="1"/>
              <a:t>int</a:t>
            </a:r>
            <a:r>
              <a:rPr lang="pt-BR" dirty="0"/>
              <a:t> i, j;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// Etapa 1: Leitura dos dados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</a:t>
            </a:r>
            <a:r>
              <a:rPr lang="pt-BR" dirty="0" err="1"/>
              <a:t>printf</a:t>
            </a:r>
            <a:r>
              <a:rPr lang="pt-BR" dirty="0"/>
              <a:t>("Digite os elementos da matriz 3x3:\n");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for (i = 0; i &lt; 3; i++) {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for (j = 0; j &lt; 3; j++) {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	</a:t>
            </a:r>
            <a:r>
              <a:rPr lang="pt-BR" dirty="0" err="1"/>
              <a:t>printf</a:t>
            </a:r>
            <a:r>
              <a:rPr lang="pt-BR" dirty="0"/>
              <a:t>("Elemento [%d][%d]: ", i, j);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	</a:t>
            </a:r>
            <a:r>
              <a:rPr lang="pt-BR" dirty="0" err="1"/>
              <a:t>scanf</a:t>
            </a:r>
            <a:r>
              <a:rPr lang="pt-BR" dirty="0"/>
              <a:t>("%f", &amp;matriz[i][j]);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} }</a:t>
            </a:r>
          </a:p>
        </p:txBody>
      </p:sp>
    </p:spTree>
    <p:extLst>
      <p:ext uri="{BB962C8B-B14F-4D97-AF65-F5344CB8AC3E}">
        <p14:creationId xmlns:p14="http://schemas.microsoft.com/office/powerpoint/2010/main" val="250836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F7D15-89C4-F776-EC01-6E489AAF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3F34E-2455-50BD-1BB2-C4DF1A9D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 de Matriz 3 X 3 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BB8E5-55DB-BBF0-5585-3E9631BEF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// Etapa 2: Exibição em formato de tabela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printf</a:t>
            </a:r>
            <a:r>
              <a:rPr lang="pt-BR" dirty="0"/>
              <a:t>("\n--- Matriz Digitada ---\n");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for (i = 0; i &lt; 3; i++) {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for (j = 0; j &lt; 3; j++) {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	</a:t>
            </a:r>
            <a:r>
              <a:rPr lang="pt-BR" dirty="0" err="1"/>
              <a:t>printf</a:t>
            </a:r>
            <a:r>
              <a:rPr lang="pt-BR" dirty="0"/>
              <a:t>("%.2f\t", matriz[i][j]); // \t adiciona uma tabulação para alinhar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}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	</a:t>
            </a:r>
            <a:r>
              <a:rPr lang="pt-BR" dirty="0" err="1"/>
              <a:t>printf</a:t>
            </a:r>
            <a:r>
              <a:rPr lang="pt-BR" dirty="0"/>
              <a:t>("\n"); // Quebra de linha ao final de cada linha da matriz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}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return</a:t>
            </a:r>
            <a:r>
              <a:rPr lang="pt-BR" dirty="0"/>
              <a:t> 0;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6440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F7B5A-862B-A1AD-2748-DCFB5AA72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63E24-540B-F8DB-6086-0497D45D8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Passo a 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BC3413-4300-D064-042F-B23B7009B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Declaração (</a:t>
            </a:r>
            <a:r>
              <a:rPr lang="pt-BR" b="1" dirty="0" err="1"/>
              <a:t>float</a:t>
            </a:r>
            <a:r>
              <a:rPr lang="pt-BR" b="1" dirty="0"/>
              <a:t> matriz[3][3]): </a:t>
            </a:r>
            <a:r>
              <a:rPr lang="pt-BR" dirty="0"/>
              <a:t>Reservamos um espaço contínuo na memória para 9 números reais. </a:t>
            </a:r>
          </a:p>
          <a:p>
            <a:pPr algn="just"/>
            <a:r>
              <a:rPr lang="pt-BR" dirty="0"/>
              <a:t>O primeiro índice representa as linhas e o segundo as colunas.</a:t>
            </a:r>
          </a:p>
          <a:p>
            <a:pPr algn="just"/>
            <a:r>
              <a:rPr lang="pt-BR" b="1" dirty="0"/>
              <a:t>Laços Aninhados para Leitura: </a:t>
            </a:r>
            <a:r>
              <a:rPr lang="pt-BR" dirty="0"/>
              <a:t>O laço externo (i) fixa uma linha por vez.</a:t>
            </a:r>
          </a:p>
          <a:p>
            <a:pPr algn="just"/>
            <a:r>
              <a:rPr lang="pt-BR" dirty="0"/>
              <a:t>O laço interno (j) percorre todas as colunas daquela linha antes de saltar para a próxima.</a:t>
            </a:r>
          </a:p>
          <a:p>
            <a:pPr algn="just"/>
            <a:r>
              <a:rPr lang="pt-BR" dirty="0"/>
              <a:t>O comando </a:t>
            </a:r>
            <a:r>
              <a:rPr lang="pt-BR" dirty="0" err="1"/>
              <a:t>scanf</a:t>
            </a:r>
            <a:r>
              <a:rPr lang="pt-BR" dirty="0"/>
              <a:t>("%f", &amp;matriz[i][j]) armazena o valor digitado exatamente na intersecção da linha i com a coluna j.</a:t>
            </a:r>
          </a:p>
        </p:txBody>
      </p:sp>
    </p:spTree>
    <p:extLst>
      <p:ext uri="{BB962C8B-B14F-4D97-AF65-F5344CB8AC3E}">
        <p14:creationId xmlns:p14="http://schemas.microsoft.com/office/powerpoint/2010/main" val="435776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46403-098B-94DF-2E4F-7B145038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28DF1-A1E9-0906-8BE6-DF272664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Passo a 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B87801-9840-3E2A-6594-F00DE429D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Formatação de Saída: </a:t>
            </a:r>
            <a:r>
              <a:rPr lang="pt-BR" dirty="0"/>
              <a:t>Para que o resultado pareça uma tabela, usamos o caractere de escape \t (tabulação), que empurra o próximo número para uma coluna visual alinhada.</a:t>
            </a:r>
          </a:p>
          <a:p>
            <a:pPr algn="just"/>
            <a:r>
              <a:rPr lang="pt-BR" dirty="0"/>
              <a:t>O comando </a:t>
            </a:r>
            <a:r>
              <a:rPr lang="pt-BR" dirty="0" err="1"/>
              <a:t>printf</a:t>
            </a:r>
            <a:r>
              <a:rPr lang="pt-BR" dirty="0"/>
              <a:t>("\n") dentro do primeiro laço (mas fora do segundo) é fundamental: ele garante que, após imprimir todos os elementos de uma linha, o cursor do console pule para a linha de baixo.</a:t>
            </a:r>
          </a:p>
          <a:p>
            <a:pPr algn="just"/>
            <a:r>
              <a:rPr lang="pt-BR" b="1" dirty="0"/>
              <a:t>Precisão Numérica: </a:t>
            </a:r>
            <a:r>
              <a:rPr lang="pt-BR" dirty="0"/>
              <a:t>O uso de %.2f limita a exibição a duas casas decimais, facilitando a leitura de dados financeiros ou científicos, temas recorrentes na aplicação de algoritmos.</a:t>
            </a:r>
          </a:p>
        </p:txBody>
      </p:sp>
    </p:spTree>
    <p:extLst>
      <p:ext uri="{BB962C8B-B14F-4D97-AF65-F5344CB8AC3E}">
        <p14:creationId xmlns:p14="http://schemas.microsoft.com/office/powerpoint/2010/main" val="782364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EE90B-C996-2AFD-08F6-A77E9B3B1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C45D6-B839-186C-04BD-45184F92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Vídeos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A14607-F1EF-0EA7-7842-D45F2B6BA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hlinkClick r:id="rId2"/>
              </a:rPr>
              <a:t>https://www.youtube.com/watch?v=8d1bH8bkj5Q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57638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3988</TotalTime>
  <Words>1628</Words>
  <Application>Microsoft Office PowerPoint</Application>
  <PresentationFormat>Widescreen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Cambria Math</vt:lpstr>
      <vt:lpstr>Garamond</vt:lpstr>
      <vt:lpstr>Orgânico</vt:lpstr>
      <vt:lpstr>Algoritmos e Laboratório de Programação</vt:lpstr>
      <vt:lpstr>O que são Matrizes?</vt:lpstr>
      <vt:lpstr>O que são Matrizes?</vt:lpstr>
      <vt:lpstr>Estrutura e Identificação de Matrizes</vt:lpstr>
      <vt:lpstr>Tipos Comuns de Matrizes</vt:lpstr>
      <vt:lpstr>Estrutura Bidimensional</vt:lpstr>
      <vt:lpstr>Evolução de Listas para Tabelas</vt:lpstr>
      <vt:lpstr>Álgebra Matricial Computacional</vt:lpstr>
      <vt:lpstr>Correlação entre Algoritmos e Programação</vt:lpstr>
      <vt:lpstr>Operações Matemáticas com Matrizes</vt:lpstr>
      <vt:lpstr>Adição e Subtração de Matrizes</vt:lpstr>
      <vt:lpstr>Multiplicação por Escalar</vt:lpstr>
      <vt:lpstr>Multiplicação entre Matrizes</vt:lpstr>
      <vt:lpstr>Multiplicação entre Matrizes</vt:lpstr>
      <vt:lpstr>Divisão de Matrizes</vt:lpstr>
      <vt:lpstr>Desenvolvimento de Matriz 3 X 3 em C</vt:lpstr>
      <vt:lpstr>Desenvolvimento de Matriz 3 X 3 em C</vt:lpstr>
      <vt:lpstr>Explicação Passo a Passo</vt:lpstr>
      <vt:lpstr>Explicação Passo a Passo</vt:lpstr>
      <vt:lpstr>Vídeos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799</cp:revision>
  <dcterms:created xsi:type="dcterms:W3CDTF">2016-01-25T19:09:02Z</dcterms:created>
  <dcterms:modified xsi:type="dcterms:W3CDTF">2026-03-13T16:33:27Z</dcterms:modified>
</cp:coreProperties>
</file>