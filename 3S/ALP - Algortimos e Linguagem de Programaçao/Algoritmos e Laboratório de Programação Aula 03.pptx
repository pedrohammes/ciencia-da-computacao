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17" r:id="rId3"/>
    <p:sldId id="300" r:id="rId4"/>
    <p:sldId id="293" r:id="rId5"/>
    <p:sldId id="299" r:id="rId6"/>
    <p:sldId id="294" r:id="rId7"/>
    <p:sldId id="298" r:id="rId8"/>
    <p:sldId id="319" r:id="rId9"/>
    <p:sldId id="295" r:id="rId10"/>
    <p:sldId id="320" r:id="rId11"/>
    <p:sldId id="296" r:id="rId12"/>
    <p:sldId id="321" r:id="rId13"/>
    <p:sldId id="322" r:id="rId14"/>
    <p:sldId id="297" r:id="rId15"/>
    <p:sldId id="301" r:id="rId16"/>
    <p:sldId id="302" r:id="rId17"/>
    <p:sldId id="303" r:id="rId18"/>
    <p:sldId id="304" r:id="rId19"/>
    <p:sldId id="305" r:id="rId20"/>
    <p:sldId id="31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Pa3tY4ne38" TargetMode="External"/><Relationship Id="rId2" Type="http://schemas.openxmlformats.org/officeDocument/2006/relationships/hyperlink" Target="https://www.youtube.com/watch?v=poDFFYkp6g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81093" cy="1630058"/>
          </a:xfrm>
        </p:spPr>
        <p:txBody>
          <a:bodyPr/>
          <a:lstStyle/>
          <a:p>
            <a:r>
              <a:rPr lang="pt-BR" sz="4800" dirty="0">
                <a:latin typeface="Arial" panose="020B0604020202020204" pitchFamily="34" charset="0"/>
                <a:cs typeface="Arial" panose="020B0604020202020204" pitchFamily="34" charset="0"/>
              </a:rPr>
              <a:t>Algoritmos e Laboratório de Programação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3456448" y="3669633"/>
            <a:ext cx="5287567" cy="888512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spcBef>
                <a:spcPct val="0"/>
              </a:spcBef>
            </a:pPr>
            <a:r>
              <a:rPr lang="pt-BR" sz="2800" dirty="0"/>
              <a:t>Vetores (</a:t>
            </a:r>
            <a:r>
              <a:rPr lang="pt-BR" sz="2800" dirty="0" err="1"/>
              <a:t>Arrays</a:t>
            </a:r>
            <a:r>
              <a:rPr lang="pt-BR" sz="2800" dirty="0"/>
              <a:t> Unidimensionais) Organização e Acesso Linear</a:t>
            </a:r>
            <a:endParaRPr lang="pt-BR" sz="2800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5065515" y="4692317"/>
            <a:ext cx="2069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/>
              <a:t>Aula 03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A96A-7409-7E6F-F541-D23EFDF7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18D5F-04DB-873E-4975-6EA7E48E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AC41B-D6A9-2573-F39A-BAC5059AC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18347"/>
            <a:ext cx="9601196" cy="3982453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pt-BR" sz="2800" dirty="0"/>
              <a:t>É um segmento de reta orientado, representado por uma seta, utilizado para definir grandezas físicas que exigem módulo (valor numérico/tamanho), direção (horizontal, vertical, inclinada) e sentido (para onde aponta).</a:t>
            </a:r>
          </a:p>
          <a:p>
            <a:pPr algn="just">
              <a:spcBef>
                <a:spcPts val="0"/>
              </a:spcBef>
            </a:pPr>
            <a:r>
              <a:rPr lang="pt-BR" sz="2800" dirty="0"/>
              <a:t>Exemplos comuns incluem força, velocidade, aceleração e deslocamento.</a:t>
            </a:r>
          </a:p>
          <a:p>
            <a:pPr algn="just">
              <a:spcBef>
                <a:spcPts val="0"/>
              </a:spcBef>
            </a:pPr>
            <a:endParaRPr lang="pt-BR" sz="2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E54098-1526-FE5C-164B-A14AB295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779" y="620855"/>
            <a:ext cx="4016949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7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4B28-D66A-910F-DECB-D963D14C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2E6E6-D638-D038-66D3-D6440D1D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Principais Características e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4747FD-A379-B0D0-8D45-B121F0EC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pt-BR" sz="2800" dirty="0"/>
              <a:t>Módulo (Intensidade): Representa o "tamanho" do vetor, indicando a intensidade da grandeza.</a:t>
            </a:r>
          </a:p>
          <a:p>
            <a:pPr algn="just">
              <a:spcBef>
                <a:spcPts val="0"/>
              </a:spcBef>
            </a:pPr>
            <a:r>
              <a:rPr lang="pt-BR" sz="2800" dirty="0"/>
              <a:t>Direção: A reta sobre a qual o vetor atua (</a:t>
            </a:r>
            <a:r>
              <a:rPr lang="pt-BR" sz="2800" dirty="0" err="1"/>
              <a:t>ex</a:t>
            </a:r>
            <a:r>
              <a:rPr lang="pt-BR" sz="2800" dirty="0"/>
              <a:t>: horizontal, vertical, diagonal).</a:t>
            </a:r>
          </a:p>
          <a:p>
            <a:pPr algn="just">
              <a:spcBef>
                <a:spcPts val="0"/>
              </a:spcBef>
            </a:pPr>
            <a:r>
              <a:rPr lang="pt-BR" sz="2800" dirty="0"/>
              <a:t>Sentido: A orientação indicada pela ponta da seta (</a:t>
            </a:r>
            <a:r>
              <a:rPr lang="pt-BR" sz="2800" dirty="0" err="1"/>
              <a:t>ex</a:t>
            </a:r>
            <a:r>
              <a:rPr lang="pt-BR" sz="2800" dirty="0"/>
              <a:t>: para cima, para baixo, esquerda, direita).</a:t>
            </a:r>
          </a:p>
          <a:p>
            <a:pPr algn="just">
              <a:spcBef>
                <a:spcPts val="0"/>
              </a:spcBef>
            </a:pPr>
            <a:r>
              <a:rPr lang="pt-BR" sz="2800" dirty="0"/>
              <a:t>Representação: Geralmente desenhado como um segmento de reta com uma seta.</a:t>
            </a:r>
          </a:p>
        </p:txBody>
      </p:sp>
    </p:spTree>
    <p:extLst>
      <p:ext uri="{BB962C8B-B14F-4D97-AF65-F5344CB8AC3E}">
        <p14:creationId xmlns:p14="http://schemas.microsoft.com/office/powerpoint/2010/main" val="212692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83CDD-2AD5-2B08-8F85-31CA0FBBD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0FAB2-79B7-D3FD-A227-78C3A4AD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CDF7CB-CF9C-6778-1859-07F711FFA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913180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Um vetor é uma estrutura de dados homogênea e estática. </a:t>
            </a:r>
          </a:p>
          <a:p>
            <a:pPr algn="just"/>
            <a:r>
              <a:rPr lang="pt-BR" sz="2800" dirty="0"/>
              <a:t>Imagine uma fileira de gavetas numeradas em um armário: cada gaveta pode guardar apenas um tipo de objeto (por exemplo, apenas números inteiros) e o tamanho desse armário é definido no momento da sua construção, não podendo mudar durante a execução do programa.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BA4483-98BD-A70E-C6B1-E6B90476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404" y="681565"/>
            <a:ext cx="22193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8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3E64-673E-95B6-BE55-761F5724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EF64F-6698-B69D-0142-6334C9A9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4D2AC8-CCA5-F260-A36F-2A7BFA39F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800" b="1" dirty="0"/>
              <a:t>Homogênea: </a:t>
            </a:r>
            <a:r>
              <a:rPr lang="pt-BR" sz="2800" dirty="0"/>
              <a:t>Todos os elementos armazenados no vetor devem ser obrigatoriamente do mesmo tipo (todos </a:t>
            </a:r>
            <a:r>
              <a:rPr lang="pt-BR" sz="2800" dirty="0" err="1"/>
              <a:t>int</a:t>
            </a:r>
            <a:r>
              <a:rPr lang="pt-BR" sz="2800" dirty="0"/>
              <a:t>, todos </a:t>
            </a:r>
            <a:r>
              <a:rPr lang="pt-BR" sz="2800" dirty="0" err="1"/>
              <a:t>float</a:t>
            </a:r>
            <a:r>
              <a:rPr lang="pt-BR" sz="2800" dirty="0"/>
              <a:t>, etc.).</a:t>
            </a:r>
          </a:p>
          <a:p>
            <a:pPr algn="just"/>
            <a:r>
              <a:rPr lang="pt-BR" sz="2800" b="1" dirty="0"/>
              <a:t>Estática: </a:t>
            </a:r>
            <a:r>
              <a:rPr lang="pt-BR" sz="2800" dirty="0"/>
              <a:t>O tamanho do vetor deve ser definido no momento da declaração e não muda durante a execução do programa.</a:t>
            </a:r>
          </a:p>
          <a:p>
            <a:pPr algn="just"/>
            <a:r>
              <a:rPr lang="pt-BR" sz="2800" dirty="0"/>
              <a:t>Entender vetores é o primeiro passo fundamental para lidar com conjuntos de dados de forma organizada na programação. </a:t>
            </a:r>
          </a:p>
          <a:p>
            <a:pPr algn="just"/>
            <a:r>
              <a:rPr lang="pt-BR" sz="2800" dirty="0"/>
              <a:t>Em C, eles são a estrutura de dados mais básica e eficiente que existe.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8498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0A9F-4244-F9E7-99DF-C52FACF51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CE2F7-514F-33EC-0C4A-26252D4E4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Funcionamento e Endereçamento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7D5F9B-F1BE-6609-1865-1DB3EE021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74" y="2418347"/>
            <a:ext cx="10543308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A principal característica do vetor é o acesso via índice.</a:t>
            </a:r>
          </a:p>
          <a:p>
            <a:pPr algn="just"/>
            <a:r>
              <a:rPr lang="pt-BR" sz="2800" dirty="0"/>
              <a:t>Na Linguagem C o vetor é </a:t>
            </a:r>
            <a:r>
              <a:rPr lang="pt-BR" sz="2800" b="1" dirty="0"/>
              <a:t>Indexado</a:t>
            </a:r>
            <a:r>
              <a:rPr lang="pt-BR" sz="2800" dirty="0"/>
              <a:t>, isto é, cada elemento possui uma posição específica, chamada de índice, que começa sempre em 0 e o último, na posição n-1, onde n é o tamanho total do vetor.</a:t>
            </a:r>
          </a:p>
          <a:p>
            <a:pPr algn="just"/>
            <a:r>
              <a:rPr lang="pt-BR" sz="2800" dirty="0"/>
              <a:t>Exemplo de Declaração: Ao escrever </a:t>
            </a:r>
            <a:r>
              <a:rPr lang="pt-BR" sz="2800" b="1" dirty="0" err="1"/>
              <a:t>int</a:t>
            </a:r>
            <a:r>
              <a:rPr lang="pt-BR" sz="2800" b="1" dirty="0"/>
              <a:t> notas[10];</a:t>
            </a:r>
            <a:r>
              <a:rPr lang="pt-BR" sz="2800" dirty="0"/>
              <a:t>,</a:t>
            </a:r>
            <a:r>
              <a:rPr lang="pt-BR" sz="2800" b="1" dirty="0"/>
              <a:t> </a:t>
            </a:r>
            <a:r>
              <a:rPr lang="pt-BR" sz="2800" dirty="0"/>
              <a:t>informamos ao compilador para reservar espaço para 10 números inteiros.</a:t>
            </a:r>
          </a:p>
        </p:txBody>
      </p:sp>
    </p:spTree>
    <p:extLst>
      <p:ext uri="{BB962C8B-B14F-4D97-AF65-F5344CB8AC3E}">
        <p14:creationId xmlns:p14="http://schemas.microsoft.com/office/powerpoint/2010/main" val="1974235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70E29-D2E8-4868-4EA8-60858E991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83D9F-5313-3DDB-20E0-167AF7A1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Funcionamento e Endereçamento de Vetores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7B32F-B9A1-C2A4-CD20-E48741EC6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Acesso Direto: Diferente de uma lista de compras onde você precisa ler item por item, no vetor você pode "pular" diretamente para a </a:t>
            </a:r>
            <a:r>
              <a:rPr lang="pt-BR" sz="2800" b="1" dirty="0"/>
              <a:t>quinta posição </a:t>
            </a:r>
            <a:r>
              <a:rPr lang="pt-BR" sz="2800" dirty="0"/>
              <a:t>usando </a:t>
            </a:r>
            <a:r>
              <a:rPr lang="pt-BR" sz="2800" b="1" dirty="0"/>
              <a:t>notas[4]</a:t>
            </a:r>
            <a:r>
              <a:rPr lang="pt-BR" sz="2800" dirty="0"/>
              <a:t>. (lembrando que começa no [0])</a:t>
            </a:r>
          </a:p>
          <a:p>
            <a:pPr algn="just"/>
            <a:r>
              <a:rPr lang="pt-BR" sz="2800" dirty="0"/>
              <a:t>Isso torna a busca e a manipulação extremamente rápidas.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601864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6C3D-B63C-AB74-702E-7E7F833FC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942CC-48B4-9485-3406-0ECA98D72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Importância dos Vetores na Evolução das Linguagens de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C0B8AB-39B5-90E3-92AF-E239FBFD2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418347"/>
            <a:ext cx="9871363" cy="385776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800" dirty="0"/>
              <a:t>Os vetores são a espinha dorsal da computação moderna porque refletem a maneira como o hardware funciona, servindo de ponte entre a memória física e a lógica abstrata.</a:t>
            </a:r>
          </a:p>
          <a:p>
            <a:pPr algn="just"/>
            <a:r>
              <a:rPr lang="pt-BR" sz="2800" dirty="0"/>
              <a:t>Com o surgimento dos vetores na evolução das linguagens de programação, passamos a tratar esse grupo como uma única entidade.</a:t>
            </a:r>
          </a:p>
          <a:p>
            <a:pPr algn="just"/>
            <a:r>
              <a:rPr lang="pt-BR" sz="2800" dirty="0"/>
              <a:t>Sem vetores, se precisássemos calcular a média de 50 alunos, teríamos que criar 50 variáveis diferentes (nota1, nota2, ...) e depois calcular usando todas essas variáveis. E se fossem milhares de alunos ?!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39421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56F9-569E-ECE2-A8FA-4E1E20A9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C8052-44D1-B73C-D2C2-FF8412D0E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Importância dos Vetores na Evolução das Linguagens de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46FB22-25E4-D3A3-8135-C9CD062B8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2800" dirty="0"/>
              <a:t>Nos primórdios (Assembly, Fortran), os vetores eram simples mapeamentos de endereços de memória contíguos. </a:t>
            </a:r>
          </a:p>
          <a:p>
            <a:pPr marL="0" indent="0" algn="just">
              <a:buNone/>
            </a:pPr>
            <a:r>
              <a:rPr lang="pt-BR" sz="2800" b="1" dirty="0"/>
              <a:t>Com a evolução</a:t>
            </a:r>
            <a:r>
              <a:rPr lang="pt-BR" sz="2800" dirty="0"/>
              <a:t>:</a:t>
            </a:r>
          </a:p>
          <a:p>
            <a:pPr algn="just"/>
            <a:r>
              <a:rPr lang="pt-BR" sz="2800" b="1" dirty="0"/>
              <a:t>Abstração: </a:t>
            </a:r>
            <a:r>
              <a:rPr lang="pt-BR" sz="2800" dirty="0"/>
              <a:t>Passamos de blocos fixos para estruturas dinâmicas (como </a:t>
            </a:r>
            <a:r>
              <a:rPr lang="pt-BR" sz="2800" dirty="0" err="1"/>
              <a:t>ArrayList</a:t>
            </a:r>
            <a:r>
              <a:rPr lang="pt-BR" sz="2800" dirty="0"/>
              <a:t> em Java ou </a:t>
            </a:r>
            <a:r>
              <a:rPr lang="pt-BR" sz="2800" dirty="0" err="1"/>
              <a:t>list</a:t>
            </a:r>
            <a:r>
              <a:rPr lang="pt-BR" sz="2800" dirty="0"/>
              <a:t> em Python) que gerenciam o tamanho automaticamente.</a:t>
            </a:r>
          </a:p>
          <a:p>
            <a:pPr algn="just"/>
            <a:r>
              <a:rPr lang="pt-BR" sz="2800" b="1" dirty="0"/>
              <a:t>Tipagem: </a:t>
            </a:r>
            <a:r>
              <a:rPr lang="pt-BR" sz="2800" dirty="0"/>
              <a:t>Linguagens modernas introduziram vetores genéricos e fortemente </a:t>
            </a:r>
            <a:r>
              <a:rPr lang="pt-BR" sz="2800" dirty="0" err="1"/>
              <a:t>tipados</a:t>
            </a:r>
            <a:r>
              <a:rPr lang="pt-BR" sz="2800" dirty="0"/>
              <a:t>, aumentando a segurança e evitando erros de "estouro de memória" (buffer overflow).</a:t>
            </a:r>
          </a:p>
        </p:txBody>
      </p:sp>
    </p:spTree>
    <p:extLst>
      <p:ext uri="{BB962C8B-B14F-4D97-AF65-F5344CB8AC3E}">
        <p14:creationId xmlns:p14="http://schemas.microsoft.com/office/powerpoint/2010/main" val="3982161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AD2D-1FE8-589B-46CD-30DADAB6E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4CF8F-46A9-08EB-C257-BD7EF98C1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Importância dos Vetores na Evolução das Linguagens de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12D8E-B843-2462-4DD7-D0ADE3A89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b="1" dirty="0"/>
              <a:t>Computação de Alta Performance: </a:t>
            </a:r>
            <a:r>
              <a:rPr lang="pt-BR" sz="2800" dirty="0"/>
              <a:t>A evolução permitiu a Vetorização (instruções SIMD), onde um único comando processa múltiplos dados simultaneamente, essencial para IA e gráficos hoje.</a:t>
            </a:r>
          </a:p>
        </p:txBody>
      </p:sp>
    </p:spTree>
    <p:extLst>
      <p:ext uri="{BB962C8B-B14F-4D97-AF65-F5344CB8AC3E}">
        <p14:creationId xmlns:p14="http://schemas.microsoft.com/office/powerpoint/2010/main" val="976217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D60B-58FC-3894-5565-8BB647C1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99A40-073F-AC27-0F14-195C9931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Correlação com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37123-3F35-8952-0C14-827336B9F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 uso de vetores exige, obrigatoriamente, a utilização de estruturas de repetição (como o laço </a:t>
            </a:r>
            <a:r>
              <a:rPr lang="pt-BR" b="1" dirty="0"/>
              <a:t>for</a:t>
            </a:r>
            <a:r>
              <a:rPr lang="pt-BR" dirty="0"/>
              <a:t>). </a:t>
            </a:r>
          </a:p>
          <a:p>
            <a:pPr algn="just"/>
            <a:r>
              <a:rPr lang="pt-BR" dirty="0"/>
              <a:t>O algoritmo deixa de ser uma sequência linear de comandos e passa a ser um ciclo que percorre o índice do vetor para realizar cálculos, buscas ou filtragens.</a:t>
            </a:r>
          </a:p>
        </p:txBody>
      </p:sp>
    </p:spTree>
    <p:extLst>
      <p:ext uri="{BB962C8B-B14F-4D97-AF65-F5344CB8AC3E}">
        <p14:creationId xmlns:p14="http://schemas.microsoft.com/office/powerpoint/2010/main" val="493003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AE40D-3495-7170-1C03-DD1FEEFA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DEACE-0BFA-C7B6-324B-42AEFB7D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Correlação com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463059-A698-A4D9-3928-544E30FF5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Os vetores são a estrutura de dados fundamental para a eficiência algorítmica:</a:t>
            </a:r>
          </a:p>
          <a:p>
            <a:pPr algn="just"/>
            <a:r>
              <a:rPr lang="pt-BR" b="1" dirty="0"/>
              <a:t>Acesso Direto: </a:t>
            </a:r>
            <a:r>
              <a:rPr lang="pt-BR" dirty="0"/>
              <a:t>A maior vantagem competitiva. Se você sabe o índice, o tempo de acesso é instantâneo, independentemente do tamanho do vetor. Isso é a base para algoritmos de busca binária e tabelas.</a:t>
            </a:r>
          </a:p>
          <a:p>
            <a:pPr algn="just"/>
            <a:r>
              <a:rPr lang="pt-BR" b="1" dirty="0"/>
              <a:t>Localidade de Referência: </a:t>
            </a:r>
            <a:r>
              <a:rPr lang="pt-BR" dirty="0"/>
              <a:t>Algoritmos que utilizam vetores aproveitam melhor o cache do processador. Como os dados estão próximos fisicamente, o hardware os lê muito mais rápido do que dados espalhados (como em listas ligadas).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9323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9938-4AEF-3AD7-1401-67BA25E5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B82EB-4532-FDBF-5B12-146801BB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Correlação com 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D256A6-4BB1-F9D5-654E-283990D26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Base para Estruturas Complexas: Quase todas as estruturas mais avançadas (Matrizes, Pilhas, Filas, </a:t>
            </a:r>
            <a:r>
              <a:rPr lang="pt-BR" dirty="0" err="1"/>
              <a:t>Heaps</a:t>
            </a:r>
            <a:r>
              <a:rPr lang="pt-BR" dirty="0"/>
              <a:t> e Grafos) são implementadas "por baixo do pano" usando vetores.</a:t>
            </a:r>
          </a:p>
          <a:p>
            <a:pPr algn="just"/>
            <a:r>
              <a:rPr lang="pt-BR" dirty="0"/>
              <a:t>Sem vetores, a complexidade computacional de tarefas simples seria proibitiva. Eles permitem que algoritmos manipulem grandes volumes de dados de forma previsível e veloz, adaptando-se desde sistemas embarcados simples até redes neurais complexas.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1802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F799-C03F-4514-7F0D-2F7D37A0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048BE-60D2-95D4-A677-46FB06C7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 Prática e Cuidados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246CE2-6D31-09B5-FCD9-2852C4F04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800" dirty="0"/>
              <a:t>Um ponto descritivo importante é que o C não impede o programador de tentar acessar a posição 11 de um vetor de tamanho 10.</a:t>
            </a:r>
          </a:p>
          <a:p>
            <a:pPr algn="just"/>
            <a:r>
              <a:rPr lang="pt-BR" sz="2800" dirty="0"/>
              <a:t>Isso causa um erro de segmentação ou comportamento imprevisível, exigindo que o algoritmo de controle seja rigoroso com os limites do índice.</a:t>
            </a:r>
          </a:p>
          <a:p>
            <a:pPr algn="just"/>
            <a:r>
              <a:rPr lang="pt-BR" sz="2800" dirty="0"/>
              <a:t>Se criarmos um vetor idades[] de tamanho 5, os índices válidos são de 0 a 4. Tentar acessar idades[5] causará o mesmo erro de memória (buffer overflow).</a:t>
            </a:r>
          </a:p>
        </p:txBody>
      </p:sp>
    </p:spTree>
    <p:extLst>
      <p:ext uri="{BB962C8B-B14F-4D97-AF65-F5344CB8AC3E}">
        <p14:creationId xmlns:p14="http://schemas.microsoft.com/office/powerpoint/2010/main" val="316437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08A04-9CDD-AF49-C7DD-030FE14E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47CBBA-F8C0-C16F-27B6-2F2276D6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3BC4A-207B-37C2-77C1-3557443CF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Para declarar e utilizar um vetor em C, seguimos este padrão:</a:t>
            </a:r>
          </a:p>
          <a:p>
            <a:pPr marL="0" indent="0" algn="just">
              <a:buNone/>
            </a:pPr>
            <a:r>
              <a:rPr lang="pt-BR" sz="2800" dirty="0" err="1"/>
              <a:t>tipo_dado</a:t>
            </a:r>
            <a:r>
              <a:rPr lang="pt-BR" sz="2800" dirty="0"/>
              <a:t> </a:t>
            </a:r>
            <a:r>
              <a:rPr lang="pt-BR" sz="2800" dirty="0" err="1"/>
              <a:t>nome_do_vetor</a:t>
            </a:r>
            <a:r>
              <a:rPr lang="pt-BR" sz="2800" dirty="0"/>
              <a:t>[tamanho];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51984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8CAD-E2CA-9C69-30BE-DB2010AC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A7279-F06D-E206-AAE5-EA35DEB0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Uso em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D60660-FEE6-EBBF-EDA5-35597D380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272" y="2418347"/>
            <a:ext cx="10557163" cy="37779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800" dirty="0" err="1"/>
              <a:t>int</a:t>
            </a:r>
            <a:r>
              <a:rPr lang="pt-BR" sz="2800" dirty="0"/>
              <a:t> idades[5]; // Declara um vetor para 5 números inteiros</a:t>
            </a:r>
          </a:p>
          <a:p>
            <a:pPr marL="0" indent="0" algn="just">
              <a:buNone/>
            </a:pPr>
            <a:r>
              <a:rPr lang="pt-BR" sz="2800" dirty="0" err="1"/>
              <a:t>float</a:t>
            </a:r>
            <a:r>
              <a:rPr lang="pt-BR" sz="2800" dirty="0"/>
              <a:t> notas[] = {7.5, 8.0, 9.5}; // C calcula o tamanho automaticamente (3)</a:t>
            </a:r>
          </a:p>
          <a:p>
            <a:pPr marL="0" indent="0" algn="just">
              <a:buNone/>
            </a:pPr>
            <a:r>
              <a:rPr lang="pt-BR" sz="2800" dirty="0"/>
              <a:t>// Atribuindo um valor</a:t>
            </a:r>
          </a:p>
          <a:p>
            <a:pPr marL="0" indent="0" algn="just">
              <a:buNone/>
            </a:pPr>
            <a:r>
              <a:rPr lang="pt-BR" sz="2800" dirty="0"/>
              <a:t>idades[0] = 25; // Coloca 25 na primeira posição</a:t>
            </a:r>
          </a:p>
          <a:p>
            <a:pPr marL="0" indent="0" algn="just">
              <a:buNone/>
            </a:pPr>
            <a:r>
              <a:rPr lang="pt-BR" sz="2800" dirty="0"/>
              <a:t>// Acessando um valor</a:t>
            </a:r>
          </a:p>
          <a:p>
            <a:pPr marL="0" indent="0" algn="just">
              <a:buNone/>
            </a:pPr>
            <a:r>
              <a:rPr lang="pt-BR" sz="2800" dirty="0" err="1"/>
              <a:t>printf</a:t>
            </a:r>
            <a:r>
              <a:rPr lang="pt-BR" sz="2800" dirty="0"/>
              <a:t>("%d", idades[0]); </a:t>
            </a:r>
          </a:p>
        </p:txBody>
      </p:sp>
    </p:spTree>
    <p:extLst>
      <p:ext uri="{BB962C8B-B14F-4D97-AF65-F5344CB8AC3E}">
        <p14:creationId xmlns:p14="http://schemas.microsoft.com/office/powerpoint/2010/main" val="1154844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B6AC-501D-789B-B22E-C1831D2A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CD0C4-EE6A-4134-509E-10722B23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na Memória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D4E20D-5C5E-4AA5-B6FC-02BF4EB0F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A beleza dos vetores em C está na sua simplicidade física. </a:t>
            </a:r>
          </a:p>
          <a:p>
            <a:pPr algn="just"/>
            <a:r>
              <a:rPr lang="pt-BR" sz="2800" dirty="0"/>
              <a:t>Na memória RAM, um vetor é um bloco contíguo de bytes.</a:t>
            </a:r>
          </a:p>
          <a:p>
            <a:pPr algn="just"/>
            <a:r>
              <a:rPr lang="pt-BR" sz="2800" dirty="0"/>
              <a:t>Contiguidade: Os elementos estão colados um no outro, sem espaços vazios entre eles.</a:t>
            </a:r>
          </a:p>
          <a:p>
            <a:pPr algn="just"/>
            <a:r>
              <a:rPr lang="pt-BR" sz="2800" dirty="0"/>
              <a:t>Cálculo de Endereço: O nome do vetor (idades) é, na verdade, um ponteiro para o endereço de memória do primeiro elemento (índice 0).</a:t>
            </a:r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635780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A96A-7409-7E6F-F541-D23EFDF7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18D5F-04DB-873E-4975-6EA7E48E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Visual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FAC41B-D6A9-2573-F39A-BAC5059AC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763" y="2418347"/>
            <a:ext cx="10432472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Imagine um vetor </a:t>
            </a:r>
            <a:r>
              <a:rPr lang="pt-BR" sz="2800" dirty="0" err="1"/>
              <a:t>int</a:t>
            </a:r>
            <a:r>
              <a:rPr lang="pt-BR" sz="2800" dirty="0"/>
              <a:t> v[3] onde cada </a:t>
            </a:r>
            <a:r>
              <a:rPr lang="pt-BR" sz="2800" dirty="0" err="1"/>
              <a:t>int</a:t>
            </a:r>
            <a:r>
              <a:rPr lang="pt-BR" sz="2800" dirty="0"/>
              <a:t> ocupa 4 bytes:</a:t>
            </a:r>
          </a:p>
          <a:p>
            <a:pPr algn="just"/>
            <a:r>
              <a:rPr lang="pt-BR" sz="2800" dirty="0"/>
              <a:t>O computador sabe exatamente onde encontrar v[2] fazendo um cálculo simples: </a:t>
            </a:r>
          </a:p>
          <a:p>
            <a:pPr algn="just"/>
            <a:endParaRPr lang="pt-BR" sz="2800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75E77CE-EF5F-B32A-56B3-9D0B631C8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634209"/>
              </p:ext>
            </p:extLst>
          </p:nvPr>
        </p:nvGraphicFramePr>
        <p:xfrm>
          <a:off x="879763" y="4001702"/>
          <a:ext cx="104324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817">
                  <a:extLst>
                    <a:ext uri="{9D8B030D-6E8A-4147-A177-3AD203B41FA5}">
                      <a16:colId xmlns:a16="http://schemas.microsoft.com/office/drawing/2014/main" val="63994165"/>
                    </a:ext>
                  </a:extLst>
                </a:gridCol>
                <a:gridCol w="1704109">
                  <a:extLst>
                    <a:ext uri="{9D8B030D-6E8A-4147-A177-3AD203B41FA5}">
                      <a16:colId xmlns:a16="http://schemas.microsoft.com/office/drawing/2014/main" val="2114291497"/>
                    </a:ext>
                  </a:extLst>
                </a:gridCol>
                <a:gridCol w="6996546">
                  <a:extLst>
                    <a:ext uri="{9D8B030D-6E8A-4147-A177-3AD203B41FA5}">
                      <a16:colId xmlns:a16="http://schemas.microsoft.com/office/drawing/2014/main" val="29500281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Índice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000" dirty="0"/>
                        <a:t>Endereço de Memória (Exemplo)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2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v[0]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0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v[1]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000" dirty="0"/>
                        <a:t>1004 (1000 + 4 bytes)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626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v[2]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3000" dirty="0"/>
                        <a:t>1008 (1004 + 4 bytes)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026600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FB29065E-D595-033E-25ED-448FB03DD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465" y="3509960"/>
            <a:ext cx="551171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6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7D15-89C4-F776-EC01-6E489AAF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3F34E-2455-50BD-1BB2-C4DF1A9D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BB8E5-55DB-BBF0-5585-3E9631BEF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Como os elementos estão em sequência, o acesso a qualquer item do vetor é instantâneo (Complexidade), pois o processador não precisa "procurar" o dado, apenas calcular onde ele deve estar matematicamente.</a:t>
            </a:r>
          </a:p>
        </p:txBody>
      </p:sp>
    </p:spTree>
    <p:extLst>
      <p:ext uri="{BB962C8B-B14F-4D97-AF65-F5344CB8AC3E}">
        <p14:creationId xmlns:p14="http://schemas.microsoft.com/office/powerpoint/2010/main" val="1226440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1BB4-0FCB-C296-369B-B89A150D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C5943-6842-B241-B312-7976D8C0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Vídeos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30520E-A4FB-A3E0-981B-2A1B6A822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777915"/>
          </a:xfrm>
        </p:spPr>
        <p:txBody>
          <a:bodyPr>
            <a:normAutofit/>
          </a:bodyPr>
          <a:lstStyle/>
          <a:p>
            <a:pPr algn="just"/>
            <a:r>
              <a:rPr lang="pt-BR" sz="2800" dirty="0"/>
              <a:t>O que é ARRAY (Vetor - Matriz):</a:t>
            </a:r>
          </a:p>
          <a:p>
            <a:pPr algn="just"/>
            <a:r>
              <a:rPr lang="pt-BR" sz="2800" dirty="0"/>
              <a:t> </a:t>
            </a:r>
            <a:r>
              <a:rPr lang="pt-BR" sz="2800" dirty="0">
                <a:hlinkClick r:id="rId2"/>
              </a:rPr>
              <a:t>https://www.youtube.com/watch?v=poDFFYkp6g4</a:t>
            </a:r>
            <a:endParaRPr lang="pt-BR" sz="2800" dirty="0"/>
          </a:p>
          <a:p>
            <a:pPr algn="just"/>
            <a:r>
              <a:rPr lang="pt-BR" sz="2800" dirty="0"/>
              <a:t>Vetores, matrizes e registros (</a:t>
            </a:r>
            <a:r>
              <a:rPr lang="pt-BR" sz="2800" dirty="0" err="1"/>
              <a:t>structs</a:t>
            </a:r>
            <a:r>
              <a:rPr lang="pt-BR" sz="2800" dirty="0"/>
              <a:t>) em linguagem C:</a:t>
            </a:r>
          </a:p>
          <a:p>
            <a:pPr algn="just"/>
            <a:r>
              <a:rPr lang="pt-BR" sz="2800" dirty="0">
                <a:hlinkClick r:id="rId3"/>
              </a:rPr>
              <a:t>https://www.youtube.com/watch?v=OPa3tY4ne38</a:t>
            </a:r>
            <a:endParaRPr lang="pt-BR" sz="2800" dirty="0"/>
          </a:p>
          <a:p>
            <a:pPr algn="just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274256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3937</TotalTime>
  <Words>1282</Words>
  <Application>Microsoft Office PowerPoint</Application>
  <PresentationFormat>Widescreen</PresentationFormat>
  <Paragraphs>88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Orgânico</vt:lpstr>
      <vt:lpstr>Algoritmos e Laboratório de Programação</vt:lpstr>
      <vt:lpstr>Vetores</vt:lpstr>
      <vt:lpstr>Principais Características e Conceitos</vt:lpstr>
      <vt:lpstr>Vetores</vt:lpstr>
      <vt:lpstr>Vetores</vt:lpstr>
      <vt:lpstr>Funcionamento e Endereçamento de Vetores</vt:lpstr>
      <vt:lpstr>Funcionamento e Endereçamento de Vetores</vt:lpstr>
      <vt:lpstr>Importância dos Vetores na Evolução das Linguagens de Programação</vt:lpstr>
      <vt:lpstr>Importância dos Vetores na Evolução das Linguagens de Programação</vt:lpstr>
      <vt:lpstr>Importância dos Vetores na Evolução das Linguagens de Programação</vt:lpstr>
      <vt:lpstr>Correlação com Algoritmos</vt:lpstr>
      <vt:lpstr>Correlação com Algoritmos</vt:lpstr>
      <vt:lpstr>Correlação com Algoritmos</vt:lpstr>
      <vt:lpstr>Aplicação Prática e Cuidados</vt:lpstr>
      <vt:lpstr>Sintaxe em C</vt:lpstr>
      <vt:lpstr>Exemplos de Uso em C</vt:lpstr>
      <vt:lpstr>Representação na Memória</vt:lpstr>
      <vt:lpstr>Exemplo Visual</vt:lpstr>
      <vt:lpstr>Importância</vt:lpstr>
      <vt:lpstr>Vídeos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789</cp:revision>
  <dcterms:created xsi:type="dcterms:W3CDTF">2016-01-25T19:09:02Z</dcterms:created>
  <dcterms:modified xsi:type="dcterms:W3CDTF">2026-03-13T16:11:07Z</dcterms:modified>
</cp:coreProperties>
</file>