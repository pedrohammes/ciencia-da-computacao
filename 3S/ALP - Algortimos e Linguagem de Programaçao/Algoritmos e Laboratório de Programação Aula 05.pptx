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3" r:id="rId3"/>
    <p:sldId id="297" r:id="rId4"/>
    <p:sldId id="294" r:id="rId5"/>
    <p:sldId id="295" r:id="rId6"/>
    <p:sldId id="296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1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aoW-c6pGTg&amp;list=PLa75BYTPDNKbPVz_dYVOCSwaOMoyEAPXf" TargetMode="External"/><Relationship Id="rId2" Type="http://schemas.openxmlformats.org/officeDocument/2006/relationships/hyperlink" Target="https://www.youtube.com/watch?v=F99FVDgnM-c&amp;list=PLqJK4Oyr5WSj1JW1ysRNi4Lvw5oUB-4g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81093" cy="1630058"/>
          </a:xfrm>
        </p:spPr>
        <p:txBody>
          <a:bodyPr/>
          <a:lstStyle/>
          <a:p>
            <a:r>
              <a:rPr lang="pt-BR" sz="4800" dirty="0">
                <a:latin typeface="Arial" panose="020B0604020202020204" pitchFamily="34" charset="0"/>
                <a:cs typeface="Arial" panose="020B0604020202020204" pitchFamily="34" charset="0"/>
              </a:rPr>
              <a:t>Algoritmos e Laboratório de Programação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3456448" y="3669633"/>
            <a:ext cx="5287567" cy="54142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</a:pPr>
            <a:r>
              <a:rPr lang="pt-BR" sz="2800" dirty="0" err="1"/>
              <a:t>Strings</a:t>
            </a:r>
            <a:r>
              <a:rPr lang="pt-BR" sz="2800" dirty="0"/>
              <a:t> e Manipulação de </a:t>
            </a:r>
            <a:r>
              <a:rPr lang="pt-BR" sz="2800" dirty="0" err="1"/>
              <a:t>Strings</a:t>
            </a:r>
            <a:endParaRPr lang="pt-BR" sz="2800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065515" y="4692317"/>
            <a:ext cx="2069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/>
              <a:t>Aula 05</a:t>
            </a: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83CDD-2AD5-2B08-8F85-31CA0FBB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0FAB2-79B7-D3FD-A227-78C3A4AD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</a:t>
            </a:r>
            <a:r>
              <a:rPr lang="pt-BR" dirty="0" err="1"/>
              <a:t>Strings</a:t>
            </a:r>
            <a:r>
              <a:rPr lang="pt-BR" dirty="0"/>
              <a:t> em C?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CDF7CB-CF9C-6778-1859-07F711FFA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Diferente de linguagens modernas onde a "</a:t>
            </a:r>
            <a:r>
              <a:rPr lang="pt-BR" dirty="0" err="1"/>
              <a:t>String</a:t>
            </a:r>
            <a:r>
              <a:rPr lang="pt-BR" dirty="0"/>
              <a:t>" é um objeto nativo e flexível, em C uma </a:t>
            </a:r>
            <a:r>
              <a:rPr lang="pt-BR" dirty="0" err="1"/>
              <a:t>string</a:t>
            </a:r>
            <a:r>
              <a:rPr lang="pt-BR" dirty="0"/>
              <a:t> é formalmente um vetor de caracteres (char) que termina obrigatoriamente com um caractere especial: o nulo (\0).</a:t>
            </a:r>
          </a:p>
          <a:p>
            <a:pPr algn="just"/>
            <a:r>
              <a:rPr lang="pt-BR" dirty="0"/>
              <a:t>A Natureza do Vetor: Cada letra, número ou símbolo ocupa uma posição no índice do vetor.</a:t>
            </a:r>
          </a:p>
          <a:p>
            <a:pPr algn="just"/>
            <a:r>
              <a:rPr lang="pt-BR" dirty="0"/>
              <a:t>O Terminador Nulo (\0): Este é o "sentinela". Como o C não guarda o tamanho do vetor automaticamente, as funções de leitura e escrita percorrem a memória até encontrar o \0. Se ele for esquecido, o programa continuará lendo o que estiver na memória adjacente, causando erros graves.</a:t>
            </a:r>
          </a:p>
        </p:txBody>
      </p:sp>
    </p:spTree>
    <p:extLst>
      <p:ext uri="{BB962C8B-B14F-4D97-AF65-F5344CB8AC3E}">
        <p14:creationId xmlns:p14="http://schemas.microsoft.com/office/powerpoint/2010/main" val="374308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F799-C03F-4514-7F0D-2F7D37A0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048BE-60D2-95D4-A677-46FB06C7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246CE2-6D31-09B5-FCD9-2852C4F04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Declaração: </a:t>
            </a:r>
            <a:r>
              <a:rPr lang="pt-BR" dirty="0"/>
              <a:t>Elas são declaradas como </a:t>
            </a:r>
            <a:r>
              <a:rPr lang="pt-BR" dirty="0" err="1"/>
              <a:t>arrays</a:t>
            </a:r>
            <a:r>
              <a:rPr lang="pt-BR" dirty="0"/>
              <a:t> de char. Por exemplo, char nome[10]; pode armazenar até 9 caracteres úteis, pois a 10ª posição deve ser reservada para o \0.</a:t>
            </a:r>
          </a:p>
          <a:p>
            <a:pPr algn="just"/>
            <a:r>
              <a:rPr lang="pt-BR" b="1" dirty="0"/>
              <a:t>Aspas Duplas: </a:t>
            </a:r>
            <a:r>
              <a:rPr lang="pt-BR" dirty="0"/>
              <a:t>Diferente de caracteres individuais (que usam aspas simples como 'A'), as </a:t>
            </a:r>
            <a:r>
              <a:rPr lang="pt-BR" dirty="0" err="1"/>
              <a:t>strings</a:t>
            </a:r>
            <a:r>
              <a:rPr lang="pt-BR" dirty="0"/>
              <a:t> são delimitadas por aspas duplas, como em "Olá Mundo".</a:t>
            </a:r>
          </a:p>
          <a:p>
            <a:pPr algn="just"/>
            <a:r>
              <a:rPr lang="pt-BR" dirty="0"/>
              <a:t>Manipulação: Como são vetores, você não pode usar operadores comuns como == para comparar ou = para atribuir </a:t>
            </a:r>
            <a:r>
              <a:rPr lang="pt-BR" dirty="0" err="1"/>
              <a:t>strings</a:t>
            </a:r>
            <a:r>
              <a:rPr lang="pt-BR" dirty="0"/>
              <a:t> diretamente após a declaração. É necessário usar funções específicas da biblioteca &lt;</a:t>
            </a:r>
            <a:r>
              <a:rPr lang="pt-BR" dirty="0" err="1"/>
              <a:t>string.h</a:t>
            </a:r>
            <a:r>
              <a:rPr lang="pt-BR" dirty="0"/>
              <a:t>&gt;.</a:t>
            </a:r>
          </a:p>
        </p:txBody>
      </p:sp>
    </p:spTree>
    <p:extLst>
      <p:ext uri="{BB962C8B-B14F-4D97-AF65-F5344CB8AC3E}">
        <p14:creationId xmlns:p14="http://schemas.microsoft.com/office/powerpoint/2010/main" val="31643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0A9F-4244-F9E7-99DF-C52FACF5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CE2F7-514F-33EC-0C4A-26252D4E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Evolução: Do Código Binário </a:t>
            </a:r>
            <a:br>
              <a:rPr lang="pt-BR" dirty="0"/>
            </a:br>
            <a:r>
              <a:rPr lang="pt-BR" dirty="0"/>
              <a:t>à Linguagem Humana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7D5F9B-F1BE-6609-1865-1DB3EE021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600" dirty="0"/>
              <a:t>A evolução das </a:t>
            </a:r>
            <a:r>
              <a:rPr lang="pt-BR" sz="2600" dirty="0" err="1"/>
              <a:t>strings</a:t>
            </a:r>
            <a:r>
              <a:rPr lang="pt-BR" sz="2600" dirty="0"/>
              <a:t> na computação reflete a necessidade de tornar as máquinas mais acessíveis.</a:t>
            </a:r>
          </a:p>
          <a:p>
            <a:pPr algn="just"/>
            <a:r>
              <a:rPr lang="pt-BR" sz="2600" b="1" dirty="0"/>
              <a:t>De Bits para Caracteres: </a:t>
            </a:r>
            <a:r>
              <a:rPr lang="pt-BR" sz="2600" dirty="0"/>
              <a:t>Antigamente, a interação era puramente numérica. Com a padronização de tabelas como a ASCII, cada número passou a representar um caractere (</a:t>
            </a:r>
            <a:r>
              <a:rPr lang="pt-BR" sz="2600" dirty="0" err="1"/>
              <a:t>ex</a:t>
            </a:r>
            <a:r>
              <a:rPr lang="pt-BR" sz="2600" dirty="0"/>
              <a:t>: 65 </a:t>
            </a:r>
            <a:r>
              <a:rPr lang="pt-BR" sz="2600"/>
              <a:t>é 'A').</a:t>
            </a:r>
            <a:endParaRPr lang="pt-BR" sz="2600" dirty="0"/>
          </a:p>
          <a:p>
            <a:pPr algn="just"/>
            <a:r>
              <a:rPr lang="pt-BR" sz="2600" b="1" dirty="0"/>
              <a:t>Manipulação de Texto: </a:t>
            </a:r>
            <a:r>
              <a:rPr lang="pt-BR" sz="2600" dirty="0"/>
              <a:t>A capacidade de processar </a:t>
            </a:r>
            <a:r>
              <a:rPr lang="pt-BR" sz="2600" dirty="0" err="1"/>
              <a:t>strings</a:t>
            </a:r>
            <a:r>
              <a:rPr lang="pt-BR" sz="2600" dirty="0"/>
              <a:t> permitiu a criação de interfaces de usuário, compiladores e sistemas de busca de texto.</a:t>
            </a:r>
          </a:p>
        </p:txBody>
      </p:sp>
    </p:spTree>
    <p:extLst>
      <p:ext uri="{BB962C8B-B14F-4D97-AF65-F5344CB8AC3E}">
        <p14:creationId xmlns:p14="http://schemas.microsoft.com/office/powerpoint/2010/main" val="1974235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56F9-569E-ECE2-A8FA-4E1E20A9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C8052-44D1-B73C-D2C2-FF8412D0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Bases da Programação: Bibliotecas Padrão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46FB22-25E4-D3A3-8135-C9CD062B8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A ementa destaca o uso das Bibliotecas padrão da linguagem. Para </a:t>
            </a:r>
            <a:r>
              <a:rPr lang="pt-BR" dirty="0" err="1"/>
              <a:t>strings</a:t>
            </a:r>
            <a:r>
              <a:rPr lang="pt-BR" dirty="0"/>
              <a:t>, a principal é a &lt;</a:t>
            </a:r>
            <a:r>
              <a:rPr lang="pt-BR" dirty="0" err="1"/>
              <a:t>string.h</a:t>
            </a:r>
            <a:r>
              <a:rPr lang="pt-BR" dirty="0"/>
              <a:t>&gt;, que fornece ferramentas essenciais para evitar que o programador precise reconstruir a lógica do zero:</a:t>
            </a:r>
          </a:p>
          <a:p>
            <a:pPr algn="just"/>
            <a:r>
              <a:rPr lang="pt-BR" dirty="0" err="1"/>
              <a:t>strlen</a:t>
            </a:r>
            <a:r>
              <a:rPr lang="pt-BR" dirty="0"/>
              <a:t>(): Calcula o comprimento da </a:t>
            </a:r>
            <a:r>
              <a:rPr lang="pt-BR" dirty="0" err="1"/>
              <a:t>string</a:t>
            </a:r>
            <a:r>
              <a:rPr lang="pt-BR" dirty="0"/>
              <a:t> (contando até o \0).</a:t>
            </a:r>
          </a:p>
          <a:p>
            <a:pPr algn="just"/>
            <a:r>
              <a:rPr lang="pt-BR" dirty="0" err="1"/>
              <a:t>strcpy</a:t>
            </a:r>
            <a:r>
              <a:rPr lang="pt-BR" dirty="0"/>
              <a:t>(): Copia o conteúdo de uma </a:t>
            </a:r>
            <a:r>
              <a:rPr lang="pt-BR" dirty="0" err="1"/>
              <a:t>string</a:t>
            </a:r>
            <a:r>
              <a:rPr lang="pt-BR" dirty="0"/>
              <a:t> para outra (essencial, pois em C não se usa string1 = string2).</a:t>
            </a:r>
          </a:p>
          <a:p>
            <a:pPr algn="just"/>
            <a:r>
              <a:rPr lang="pt-BR" dirty="0" err="1"/>
              <a:t>strcat</a:t>
            </a:r>
            <a:r>
              <a:rPr lang="pt-BR" dirty="0"/>
              <a:t>(): Concatena (une) duas sequências de texto.</a:t>
            </a:r>
          </a:p>
          <a:p>
            <a:pPr algn="just"/>
            <a:r>
              <a:rPr lang="pt-BR" dirty="0" err="1"/>
              <a:t>strcmp</a:t>
            </a:r>
            <a:r>
              <a:rPr lang="pt-BR" dirty="0"/>
              <a:t>(): Compara duas </a:t>
            </a:r>
            <a:r>
              <a:rPr lang="pt-BR" dirty="0" err="1"/>
              <a:t>strings</a:t>
            </a:r>
            <a:r>
              <a:rPr lang="pt-BR" dirty="0"/>
              <a:t> alfabeticamente, retornando valores que indicam se são iguais ou qual vem primeiro.</a:t>
            </a:r>
          </a:p>
        </p:txBody>
      </p:sp>
    </p:spTree>
    <p:extLst>
      <p:ext uri="{BB962C8B-B14F-4D97-AF65-F5344CB8AC3E}">
        <p14:creationId xmlns:p14="http://schemas.microsoft.com/office/powerpoint/2010/main" val="398216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D60B-58FC-3894-5565-8BB647C1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99A40-073F-AC27-0F14-195C9931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Correlação entre Algoritmos e 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37123-3F35-8952-0C14-827336B9F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O Algoritmo: Define a lógica de processamento de texto. Por exemplo, um algoritmo para "Inverter uma Palavra" exige o raciocínio de percorrer o vetor do final para o início.</a:t>
            </a:r>
          </a:p>
          <a:p>
            <a:pPr algn="just"/>
            <a:r>
              <a:rPr lang="pt-BR" sz="2800" dirty="0"/>
              <a:t>A Programação em C: Exige o cuidado com o Buffer. Se declararmos char nome[10] e o usuário digitar "Constantinopla", ocorrerá um estouro de memória (buffer overflow), um dos problemas de segurança mais clássicos da computação.</a:t>
            </a:r>
          </a:p>
        </p:txBody>
      </p:sp>
    </p:spTree>
    <p:extLst>
      <p:ext uri="{BB962C8B-B14F-4D97-AF65-F5344CB8AC3E}">
        <p14:creationId xmlns:p14="http://schemas.microsoft.com/office/powerpoint/2010/main" val="49300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3E64-673E-95B6-BE55-761F5724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EF64F-6698-B69D-0142-6334C9A9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4D2AC8-CCA5-F260-A36F-2A7BFA39F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18347"/>
            <a:ext cx="9885215" cy="37779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/>
              <a:t>char </a:t>
            </a:r>
            <a:r>
              <a:rPr lang="pt-BR" sz="2800" dirty="0" err="1"/>
              <a:t>saudacao</a:t>
            </a:r>
            <a:r>
              <a:rPr lang="pt-BR" sz="2800" dirty="0"/>
              <a:t>[20] = "</a:t>
            </a:r>
            <a:r>
              <a:rPr lang="pt-BR" sz="2800" dirty="0" err="1"/>
              <a:t>Ola</a:t>
            </a:r>
            <a:r>
              <a:rPr lang="pt-BR" sz="2800" dirty="0"/>
              <a:t>"; // O compilador adiciona o \0 automaticamente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 err="1"/>
              <a:t>printf</a:t>
            </a:r>
            <a:r>
              <a:rPr lang="pt-BR" sz="2800" dirty="0"/>
              <a:t>("%s", </a:t>
            </a:r>
            <a:r>
              <a:rPr lang="pt-BR" sz="2800" dirty="0" err="1"/>
              <a:t>saudacao</a:t>
            </a:r>
            <a:r>
              <a:rPr lang="pt-BR" sz="2800" dirty="0"/>
              <a:t>);    // %s é o formatador para </a:t>
            </a:r>
            <a:r>
              <a:rPr lang="pt-BR" sz="2800" dirty="0" err="1"/>
              <a:t>strings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784987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4B28-D66A-910F-DECB-D963D14C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2E6E6-D638-D038-66D3-D6440D1D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Leitura e Comparação de </a:t>
            </a:r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4747FD-A379-B0D0-8D45-B121F0EC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</a:t>
            </a:r>
          </a:p>
          <a:p>
            <a:pPr marL="0" indent="0" algn="just">
              <a:buNone/>
            </a:pPr>
            <a:r>
              <a:rPr lang="pt-BR" dirty="0"/>
              <a:t>#include &lt;</a:t>
            </a:r>
            <a:r>
              <a:rPr lang="pt-BR" dirty="0" err="1"/>
              <a:t>string.h</a:t>
            </a:r>
            <a:r>
              <a:rPr lang="pt-BR" dirty="0"/>
              <a:t>&gt; // Necessário para usar </a:t>
            </a:r>
            <a:r>
              <a:rPr lang="pt-BR" dirty="0" err="1"/>
              <a:t>strcmp</a:t>
            </a:r>
            <a:r>
              <a:rPr lang="pt-BR" dirty="0"/>
              <a:t> e </a:t>
            </a:r>
            <a:r>
              <a:rPr lang="pt-BR" dirty="0" err="1"/>
              <a:t>strcspn</a:t>
            </a:r>
            <a:endParaRPr lang="pt-BR" dirty="0"/>
          </a:p>
          <a:p>
            <a:pPr marL="0" indent="0" algn="just">
              <a:buNone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pPr marL="0" indent="0" algn="just">
              <a:buNone/>
            </a:pPr>
            <a:r>
              <a:rPr lang="pt-BR" dirty="0"/>
              <a:t>    char nome1[50];</a:t>
            </a:r>
          </a:p>
          <a:p>
            <a:pPr marL="0" indent="0" algn="just">
              <a:buNone/>
            </a:pPr>
            <a:r>
              <a:rPr lang="pt-BR" dirty="0"/>
              <a:t>    char nome2[50];</a:t>
            </a:r>
          </a:p>
        </p:txBody>
      </p:sp>
    </p:spTree>
    <p:extLst>
      <p:ext uri="{BB962C8B-B14F-4D97-AF65-F5344CB8AC3E}">
        <p14:creationId xmlns:p14="http://schemas.microsoft.com/office/powerpoint/2010/main" val="212692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08A04-9CDD-AF49-C7DD-030FE14E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7CBBA-F8C0-C16F-27B6-2F2276D6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Leitura e Comparação de </a:t>
            </a:r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3BC4A-207B-37C2-77C1-3557443CF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pt-BR" dirty="0"/>
              <a:t>// 1. Lendo </a:t>
            </a:r>
            <a:r>
              <a:rPr lang="pt-BR" dirty="0" err="1"/>
              <a:t>strings</a:t>
            </a:r>
            <a:r>
              <a:rPr lang="pt-BR" dirty="0"/>
              <a:t> COM espaços</a:t>
            </a:r>
          </a:p>
          <a:p>
            <a:pPr marL="0" indent="0" algn="just">
              <a:buNone/>
            </a:pPr>
            <a:r>
              <a:rPr lang="pt-BR" dirty="0"/>
              <a:t>    // O </a:t>
            </a:r>
            <a:r>
              <a:rPr lang="pt-BR" dirty="0" err="1"/>
              <a:t>scanf</a:t>
            </a:r>
            <a:r>
              <a:rPr lang="pt-BR" dirty="0"/>
              <a:t>("%s", ...) para de ler no primeiro espaço. </a:t>
            </a:r>
          </a:p>
          <a:p>
            <a:pPr marL="0" indent="0" algn="just">
              <a:buNone/>
            </a:pPr>
            <a:r>
              <a:rPr lang="pt-BR" dirty="0"/>
              <a:t>    // Por isso, usamos o </a:t>
            </a:r>
            <a:r>
              <a:rPr lang="pt-BR" dirty="0" err="1"/>
              <a:t>fgets</a:t>
            </a:r>
            <a:r>
              <a:rPr lang="pt-BR" dirty="0"/>
              <a:t>, que é mais seguro e aceita espaços.</a:t>
            </a:r>
          </a:p>
          <a:p>
            <a:pPr marL="0" indent="0" algn="just">
              <a:buNone/>
            </a:pPr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("Digite o primeiro nome completo: ");</a:t>
            </a:r>
          </a:p>
          <a:p>
            <a:pPr marL="0" indent="0" algn="just">
              <a:buNone/>
            </a:pPr>
            <a:r>
              <a:rPr lang="pt-BR" dirty="0"/>
              <a:t>    </a:t>
            </a:r>
            <a:r>
              <a:rPr lang="pt-BR" dirty="0" err="1"/>
              <a:t>fgets</a:t>
            </a:r>
            <a:r>
              <a:rPr lang="pt-BR" dirty="0"/>
              <a:t>(nome1, </a:t>
            </a:r>
            <a:r>
              <a:rPr lang="pt-BR" dirty="0" err="1"/>
              <a:t>sizeof</a:t>
            </a:r>
            <a:r>
              <a:rPr lang="pt-BR" dirty="0"/>
              <a:t>(nome1), </a:t>
            </a:r>
            <a:r>
              <a:rPr lang="pt-BR" dirty="0" err="1"/>
              <a:t>stdin</a:t>
            </a:r>
            <a:r>
              <a:rPr lang="pt-BR" dirty="0"/>
              <a:t>);    </a:t>
            </a:r>
          </a:p>
          <a:p>
            <a:pPr marL="0" indent="0" algn="just">
              <a:buNone/>
            </a:pPr>
            <a:r>
              <a:rPr lang="pt-BR" dirty="0"/>
              <a:t>    // O </a:t>
            </a:r>
            <a:r>
              <a:rPr lang="pt-BR" dirty="0" err="1"/>
              <a:t>fgets</a:t>
            </a:r>
            <a:r>
              <a:rPr lang="pt-BR" dirty="0"/>
              <a:t> guarda o '</a:t>
            </a:r>
            <a:r>
              <a:rPr lang="pt-BR" dirty="0" err="1"/>
              <a:t>Enter</a:t>
            </a:r>
            <a:r>
              <a:rPr lang="pt-BR" dirty="0"/>
              <a:t>' (\n) no final. Vamos removê-lo:</a:t>
            </a:r>
          </a:p>
          <a:p>
            <a:pPr marL="0" indent="0" algn="just">
              <a:buNone/>
            </a:pPr>
            <a:r>
              <a:rPr lang="pt-BR" dirty="0"/>
              <a:t>    nome1[</a:t>
            </a:r>
            <a:r>
              <a:rPr lang="pt-BR" dirty="0" err="1"/>
              <a:t>strcspn</a:t>
            </a:r>
            <a:r>
              <a:rPr lang="pt-BR" dirty="0"/>
              <a:t>(nome1, "\n")] = 0;   </a:t>
            </a:r>
          </a:p>
          <a:p>
            <a:pPr marL="0" indent="0" algn="just">
              <a:buNone/>
            </a:pPr>
            <a:r>
              <a:rPr lang="pt-BR" dirty="0" err="1"/>
              <a:t>printf</a:t>
            </a:r>
            <a:r>
              <a:rPr lang="pt-BR" dirty="0"/>
              <a:t>("Digite o segundo nome completo: ");</a:t>
            </a:r>
          </a:p>
          <a:p>
            <a:pPr marL="0" indent="0" algn="just">
              <a:buNone/>
            </a:pPr>
            <a:r>
              <a:rPr lang="pt-BR" dirty="0"/>
              <a:t>    </a:t>
            </a:r>
            <a:r>
              <a:rPr lang="pt-BR" dirty="0" err="1"/>
              <a:t>fgets</a:t>
            </a:r>
            <a:r>
              <a:rPr lang="pt-BR" dirty="0"/>
              <a:t>(nome2, </a:t>
            </a:r>
            <a:r>
              <a:rPr lang="pt-BR" dirty="0" err="1"/>
              <a:t>sizeof</a:t>
            </a:r>
            <a:r>
              <a:rPr lang="pt-BR" dirty="0"/>
              <a:t>(nome2), </a:t>
            </a:r>
            <a:r>
              <a:rPr lang="pt-BR" dirty="0" err="1"/>
              <a:t>stdin</a:t>
            </a:r>
            <a:r>
              <a:rPr lang="pt-BR" dirty="0"/>
              <a:t>);</a:t>
            </a:r>
          </a:p>
          <a:p>
            <a:pPr marL="0" indent="0" algn="just">
              <a:buNone/>
            </a:pPr>
            <a:r>
              <a:rPr lang="pt-BR" dirty="0"/>
              <a:t>    nome2[</a:t>
            </a:r>
            <a:r>
              <a:rPr lang="pt-BR" dirty="0" err="1"/>
              <a:t>strcspn</a:t>
            </a:r>
            <a:r>
              <a:rPr lang="pt-BR" dirty="0"/>
              <a:t>(nome2, "\n")] = 0;    </a:t>
            </a:r>
          </a:p>
        </p:txBody>
      </p:sp>
    </p:spTree>
    <p:extLst>
      <p:ext uri="{BB962C8B-B14F-4D97-AF65-F5344CB8AC3E}">
        <p14:creationId xmlns:p14="http://schemas.microsoft.com/office/powerpoint/2010/main" val="395198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8CAD-E2CA-9C69-30BE-DB2010AC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A7279-F06D-E206-AAE5-EA35DEB0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Leitura e Comparação de </a:t>
            </a:r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D60660-FEE6-EBBF-EDA5-35597D380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pt-BR" dirty="0"/>
              <a:t>// 2. Comparando as </a:t>
            </a:r>
            <a:r>
              <a:rPr lang="pt-BR" dirty="0" err="1"/>
              <a:t>strings</a:t>
            </a:r>
            <a:endParaRPr lang="pt-BR" dirty="0"/>
          </a:p>
          <a:p>
            <a:pPr marL="0" indent="0" algn="just">
              <a:buNone/>
            </a:pPr>
            <a:r>
              <a:rPr lang="pt-BR" dirty="0"/>
              <a:t>    // Em C, não usamos "</a:t>
            </a:r>
            <a:r>
              <a:rPr lang="pt-BR" dirty="0" err="1"/>
              <a:t>if</a:t>
            </a:r>
            <a:r>
              <a:rPr lang="pt-BR" dirty="0"/>
              <a:t> (nome1 == nome2)". Usamos </a:t>
            </a:r>
            <a:r>
              <a:rPr lang="pt-BR" dirty="0" err="1"/>
              <a:t>strcmp</a:t>
            </a:r>
            <a:r>
              <a:rPr lang="pt-BR" dirty="0"/>
              <a:t>().</a:t>
            </a:r>
          </a:p>
          <a:p>
            <a:pPr marL="0" indent="0" algn="just">
              <a:buNone/>
            </a:pPr>
            <a:r>
              <a:rPr lang="pt-BR" dirty="0"/>
              <a:t>    </a:t>
            </a:r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 err="1"/>
              <a:t>strcmp</a:t>
            </a:r>
            <a:r>
              <a:rPr lang="pt-BR" dirty="0"/>
              <a:t>(nome1, nome2) == 0) {</a:t>
            </a:r>
          </a:p>
          <a:p>
            <a:pPr marL="0" indent="0" algn="just">
              <a:buNone/>
            </a:pPr>
            <a:r>
              <a:rPr lang="pt-BR" dirty="0"/>
              <a:t>        </a:t>
            </a: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nOs</a:t>
            </a:r>
            <a:r>
              <a:rPr lang="pt-BR" dirty="0"/>
              <a:t> nomes </a:t>
            </a:r>
            <a:r>
              <a:rPr lang="pt-BR" dirty="0" err="1"/>
              <a:t>sao</a:t>
            </a:r>
            <a:r>
              <a:rPr lang="pt-BR" dirty="0"/>
              <a:t> exatamente iguais!\n");</a:t>
            </a:r>
          </a:p>
          <a:p>
            <a:pPr marL="0" indent="0" algn="just">
              <a:buNone/>
            </a:pPr>
            <a:r>
              <a:rPr lang="pt-BR" dirty="0"/>
              <a:t>    } </a:t>
            </a:r>
            <a:r>
              <a:rPr lang="pt-BR" dirty="0" err="1"/>
              <a:t>else</a:t>
            </a:r>
            <a:r>
              <a:rPr lang="pt-BR" dirty="0"/>
              <a:t> {</a:t>
            </a:r>
          </a:p>
          <a:p>
            <a:pPr marL="0" indent="0" algn="just">
              <a:buNone/>
            </a:pPr>
            <a:r>
              <a:rPr lang="pt-BR" dirty="0"/>
              <a:t>        </a:t>
            </a:r>
            <a:r>
              <a:rPr lang="pt-BR" dirty="0" err="1"/>
              <a:t>printf</a:t>
            </a:r>
            <a:r>
              <a:rPr lang="pt-BR" dirty="0"/>
              <a:t>("\</a:t>
            </a:r>
            <a:r>
              <a:rPr lang="pt-BR" dirty="0" err="1"/>
              <a:t>nOs</a:t>
            </a:r>
            <a:r>
              <a:rPr lang="pt-BR" dirty="0"/>
              <a:t> nomes </a:t>
            </a:r>
            <a:r>
              <a:rPr lang="pt-BR" dirty="0" err="1"/>
              <a:t>sao</a:t>
            </a:r>
            <a:r>
              <a:rPr lang="pt-BR" dirty="0"/>
              <a:t> diferentes.\n");</a:t>
            </a:r>
          </a:p>
          <a:p>
            <a:pPr marL="0" indent="0" algn="just">
              <a:buNone/>
            </a:pPr>
            <a:r>
              <a:rPr lang="pt-BR" dirty="0"/>
              <a:t>    }</a:t>
            </a:r>
          </a:p>
          <a:p>
            <a:pPr marL="0" indent="0" algn="just">
              <a:buNone/>
            </a:pP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0;</a:t>
            </a:r>
          </a:p>
          <a:p>
            <a:pPr marL="0" indent="0" algn="just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484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B6AC-501D-789B-B22E-C1831D2A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CD0C4-EE6A-4134-509E-10722B23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Pontos Chave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D4E20D-5C5E-4AA5-B6FC-02BF4EB0F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Leitura com </a:t>
            </a:r>
            <a:r>
              <a:rPr lang="pt-BR" b="1" dirty="0" err="1"/>
              <a:t>fgets</a:t>
            </a:r>
            <a:r>
              <a:rPr lang="pt-BR" b="1" dirty="0"/>
              <a:t>: </a:t>
            </a:r>
            <a:r>
              <a:rPr lang="pt-BR" dirty="0"/>
              <a:t>É a forma recomendada para ler </a:t>
            </a:r>
            <a:r>
              <a:rPr lang="pt-BR" dirty="0" err="1"/>
              <a:t>strings</a:t>
            </a:r>
            <a:r>
              <a:rPr lang="pt-BR" dirty="0"/>
              <a:t>, pois evita o transbordamento de memória (buffer overflow) e permite capturar espaços em branco.</a:t>
            </a:r>
          </a:p>
          <a:p>
            <a:pPr algn="just"/>
            <a:r>
              <a:rPr lang="pt-BR" b="1" dirty="0"/>
              <a:t>A função </a:t>
            </a:r>
            <a:r>
              <a:rPr lang="pt-BR" b="1" dirty="0" err="1"/>
              <a:t>strcmp</a:t>
            </a:r>
            <a:r>
              <a:rPr lang="pt-BR" b="1" dirty="0"/>
              <a:t>: </a:t>
            </a:r>
            <a:r>
              <a:rPr lang="pt-BR" dirty="0"/>
              <a:t>Ela compara o conteúdo das duas </a:t>
            </a:r>
            <a:r>
              <a:rPr lang="pt-BR" dirty="0" err="1"/>
              <a:t>strings</a:t>
            </a:r>
            <a:r>
              <a:rPr lang="pt-BR" dirty="0"/>
              <a:t> caractere por caractere.</a:t>
            </a:r>
          </a:p>
          <a:p>
            <a:pPr algn="just"/>
            <a:r>
              <a:rPr lang="pt-BR" b="1" dirty="0"/>
              <a:t>Retorna 0: </a:t>
            </a:r>
            <a:r>
              <a:rPr lang="pt-BR" dirty="0" err="1"/>
              <a:t>Strings</a:t>
            </a:r>
            <a:r>
              <a:rPr lang="pt-BR" dirty="0"/>
              <a:t> são idênticas.</a:t>
            </a:r>
          </a:p>
          <a:p>
            <a:pPr algn="just"/>
            <a:r>
              <a:rPr lang="pt-BR" b="1" dirty="0"/>
              <a:t>Retorna valor diferente de 0: </a:t>
            </a:r>
            <a:r>
              <a:rPr lang="pt-BR" dirty="0" err="1"/>
              <a:t>Strings</a:t>
            </a:r>
            <a:r>
              <a:rPr lang="pt-BR" dirty="0"/>
              <a:t> são diferentes (baseado na ordem alfabética da tabela ASCII). </a:t>
            </a:r>
          </a:p>
        </p:txBody>
      </p:sp>
    </p:spTree>
    <p:extLst>
      <p:ext uri="{BB962C8B-B14F-4D97-AF65-F5344CB8AC3E}">
        <p14:creationId xmlns:p14="http://schemas.microsoft.com/office/powerpoint/2010/main" val="2635780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A96A-7409-7E6F-F541-D23EFDF7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18D5F-04DB-873E-4975-6EA7E48E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Concatenação de Duas </a:t>
            </a:r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AC41B-D6A9-2573-F39A-BAC5059AC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Para juntar duas </a:t>
            </a:r>
            <a:r>
              <a:rPr lang="pt-BR" dirty="0" err="1"/>
              <a:t>strings</a:t>
            </a:r>
            <a:r>
              <a:rPr lang="pt-BR" dirty="0"/>
              <a:t> em C, usamos a função </a:t>
            </a:r>
            <a:r>
              <a:rPr lang="pt-BR" dirty="0" err="1"/>
              <a:t>strcat</a:t>
            </a:r>
            <a:r>
              <a:rPr lang="pt-BR" dirty="0"/>
              <a:t>() (abreviação de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concatenate</a:t>
            </a:r>
            <a:r>
              <a:rPr lang="pt-BR" dirty="0"/>
              <a:t>), que também faz parte da biblioteca &lt;</a:t>
            </a:r>
            <a:r>
              <a:rPr lang="pt-BR" dirty="0" err="1"/>
              <a:t>string.h</a:t>
            </a:r>
            <a:r>
              <a:rPr lang="pt-BR" dirty="0"/>
              <a:t>&gt;.</a:t>
            </a:r>
          </a:p>
          <a:p>
            <a:pPr algn="just"/>
            <a:r>
              <a:rPr lang="pt-BR" dirty="0"/>
              <a:t>O funcionamento é simples: ela pega o conteúdo da segunda </a:t>
            </a:r>
            <a:r>
              <a:rPr lang="pt-BR" dirty="0" err="1"/>
              <a:t>string</a:t>
            </a:r>
            <a:r>
              <a:rPr lang="pt-BR" dirty="0"/>
              <a:t> e o "cola" no final da primeira.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836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7D15-89C4-F776-EC01-6E489AAF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3F34E-2455-50BD-1BB2-C4DF1A9D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 de Concatenação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BB8E5-55DB-BBF0-5585-3E9631BEF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#include &lt;</a:t>
            </a:r>
            <a:r>
              <a:rPr lang="pt-BR" dirty="0" err="1"/>
              <a:t>string.h</a:t>
            </a:r>
            <a:r>
              <a:rPr lang="pt-BR" dirty="0"/>
              <a:t>&gt;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// Importante: a </a:t>
            </a:r>
            <a:r>
              <a:rPr lang="pt-BR" dirty="0" err="1"/>
              <a:t>string</a:t>
            </a:r>
            <a:r>
              <a:rPr lang="pt-BR" dirty="0"/>
              <a:t> de destino deve ter espaço suficiente para as duas!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char </a:t>
            </a:r>
            <a:r>
              <a:rPr lang="pt-BR" dirty="0" err="1"/>
              <a:t>saudacao</a:t>
            </a:r>
            <a:r>
              <a:rPr lang="pt-BR" dirty="0"/>
              <a:t>[50] = "Olá, ";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char nome[] = "Mundo!";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// Junta "Mundo!" ao final de "Olá, "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</a:t>
            </a:r>
            <a:r>
              <a:rPr lang="pt-BR" dirty="0" err="1"/>
              <a:t>strcat</a:t>
            </a:r>
            <a:r>
              <a:rPr lang="pt-BR" dirty="0"/>
              <a:t>(</a:t>
            </a:r>
            <a:r>
              <a:rPr lang="pt-BR" dirty="0" err="1"/>
              <a:t>saudacao</a:t>
            </a:r>
            <a:r>
              <a:rPr lang="pt-BR" dirty="0"/>
              <a:t>, nome);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</a:t>
            </a:r>
            <a:r>
              <a:rPr lang="pt-BR" dirty="0" err="1"/>
              <a:t>printf</a:t>
            </a:r>
            <a:r>
              <a:rPr lang="pt-BR" dirty="0"/>
              <a:t>("Resultado: %s\n", </a:t>
            </a:r>
            <a:r>
              <a:rPr lang="pt-BR" dirty="0" err="1"/>
              <a:t>saudacao</a:t>
            </a:r>
            <a:r>
              <a:rPr lang="pt-BR" dirty="0"/>
              <a:t>); // Saída: Olá, Mundo!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0;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6440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D425-88D4-F379-E398-7DF72EB7F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8905D-BF15-2A11-819F-A4C181AA1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Cuidados Importantes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BFD166-6E49-806E-4947-1BEB3CE49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Espaço em Memória: </a:t>
            </a:r>
            <a:r>
              <a:rPr lang="pt-BR" dirty="0"/>
              <a:t>A </a:t>
            </a:r>
            <a:r>
              <a:rPr lang="pt-BR" dirty="0" err="1"/>
              <a:t>string</a:t>
            </a:r>
            <a:r>
              <a:rPr lang="pt-BR" dirty="0"/>
              <a:t> de destino (</a:t>
            </a:r>
            <a:r>
              <a:rPr lang="pt-BR" dirty="0" err="1"/>
              <a:t>saudacao</a:t>
            </a:r>
            <a:r>
              <a:rPr lang="pt-BR" dirty="0"/>
              <a:t>) precisa ter um tamanho definido que comporte a soma dos caracteres das duas </a:t>
            </a:r>
            <a:r>
              <a:rPr lang="pt-BR" dirty="0" err="1"/>
              <a:t>strings</a:t>
            </a:r>
            <a:r>
              <a:rPr lang="pt-BR" dirty="0"/>
              <a:t> mais o caractere nulo \0. Se você declarar apenas char </a:t>
            </a:r>
            <a:r>
              <a:rPr lang="pt-BR" dirty="0" err="1"/>
              <a:t>saudacao</a:t>
            </a:r>
            <a:r>
              <a:rPr lang="pt-BR" dirty="0"/>
              <a:t>[] = "Olá, ";, o programa pode travar ao tentar adicionar mais texto, pois não reservou espaço extra.</a:t>
            </a:r>
          </a:p>
          <a:p>
            <a:pPr algn="just"/>
            <a:r>
              <a:rPr lang="pt-BR" b="1" dirty="0" err="1"/>
              <a:t>strncat</a:t>
            </a:r>
            <a:r>
              <a:rPr lang="pt-BR" b="1" dirty="0"/>
              <a:t>() (A versão segura): </a:t>
            </a:r>
            <a:r>
              <a:rPr lang="pt-BR" dirty="0"/>
              <a:t>Existe uma variante chamada </a:t>
            </a:r>
            <a:r>
              <a:rPr lang="pt-BR" dirty="0" err="1"/>
              <a:t>strncat</a:t>
            </a:r>
            <a:r>
              <a:rPr lang="pt-BR" dirty="0"/>
              <a:t>() onde você especifica o número máximo de caracteres a serem copiados. Isso evita que seu programa tente escrever em uma área da memória que não pertence a ele.</a:t>
            </a:r>
          </a:p>
        </p:txBody>
      </p:sp>
    </p:spTree>
    <p:extLst>
      <p:ext uri="{BB962C8B-B14F-4D97-AF65-F5344CB8AC3E}">
        <p14:creationId xmlns:p14="http://schemas.microsoft.com/office/powerpoint/2010/main" val="2055247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0AEF-6450-C752-FE87-3FD40A097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DFF46-56C3-5223-060C-3E1B00E3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Videos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070B1E-0BB8-839A-4A6A-C8B371BB3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Curso de Programação C | STRING com a linguagem de programação </a:t>
            </a:r>
          </a:p>
          <a:p>
            <a:pPr algn="just"/>
            <a:r>
              <a:rPr lang="pt-BR" dirty="0">
                <a:hlinkClick r:id="rId2"/>
              </a:rPr>
              <a:t>https://www.youtube.com/watch?v=F99FVDgnM-c&amp;list=PLqJK4Oyr5WSj1JW1ysRNi4Lvw5oUB-4g0</a:t>
            </a:r>
            <a:endParaRPr lang="pt-BR" dirty="0"/>
          </a:p>
          <a:p>
            <a:pPr algn="just"/>
            <a:r>
              <a:rPr lang="pt-BR" b="1" dirty="0"/>
              <a:t>Programar em C - Introdução </a:t>
            </a:r>
            <a:r>
              <a:rPr lang="pt-BR" b="1" dirty="0" err="1"/>
              <a:t>Strings|Vetores</a:t>
            </a:r>
            <a:r>
              <a:rPr lang="pt-BR" b="1" dirty="0"/>
              <a:t> de Caracteres</a:t>
            </a:r>
          </a:p>
          <a:p>
            <a:pPr algn="just"/>
            <a:r>
              <a:rPr lang="pt-BR" dirty="0">
                <a:hlinkClick r:id="rId3"/>
              </a:rPr>
              <a:t>https://www.youtube.com/watch?v=YaoW-c6pGTg&amp;list=PLa75BYTPDNKbPVz_dYVOCSwaOMoyEAPXf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79442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3986</TotalTime>
  <Words>1198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Orgânico</vt:lpstr>
      <vt:lpstr>Algoritmos e Laboratório de Programação</vt:lpstr>
      <vt:lpstr>O que são Strings em C?</vt:lpstr>
      <vt:lpstr>Características Principais</vt:lpstr>
      <vt:lpstr>Evolução: Do Código Binário  à Linguagem Humana</vt:lpstr>
      <vt:lpstr>Bases da Programação: Bibliotecas Padrão</vt:lpstr>
      <vt:lpstr>Correlação entre Algoritmos e Programação</vt:lpstr>
      <vt:lpstr>Exemplo de Uso</vt:lpstr>
      <vt:lpstr>Exemplo: Leitura e Comparação de Strings</vt:lpstr>
      <vt:lpstr>Exemplo: Leitura e Comparação de Strings</vt:lpstr>
      <vt:lpstr>Exemplo: Leitura e Comparação de Strings</vt:lpstr>
      <vt:lpstr>Explicação dos Pontos Chave</vt:lpstr>
      <vt:lpstr>Concatenação de Duas Strings</vt:lpstr>
      <vt:lpstr>Exemplo Prático de Concatenação</vt:lpstr>
      <vt:lpstr>Cuidados Importantes</vt:lpstr>
      <vt:lpstr>Videos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774</cp:revision>
  <dcterms:created xsi:type="dcterms:W3CDTF">2016-01-25T19:09:02Z</dcterms:created>
  <dcterms:modified xsi:type="dcterms:W3CDTF">2026-03-28T11:32:37Z</dcterms:modified>
</cp:coreProperties>
</file>